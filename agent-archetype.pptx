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6B9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How to Build an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23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76B900"/>
                </a:solidFill>
              </a:rPr>
              <a:t>The Universal Archetype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AAAA"/>
                </a:solidFill>
              </a:rPr>
              <a:t>One model. Every problem. From chatbot to Scan2Twin.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3931920"/>
            <a:ext cx="1920240" cy="1188720"/>
          </a:xfrm>
          <a:prstGeom prst="rect">
            <a:avLst/>
          </a:prstGeom>
          <a:solidFill>
            <a:srgbClr val="16213E"/>
          </a:solidFill>
          <a:ln w="3175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0050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54B4B"/>
                </a:solidFill>
              </a:rPr>
              <a:t>PERCEIVE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40740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</a:rPr>
              <a:t>Read the
environment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35808" y="3931920"/>
            <a:ext cx="1920240" cy="1188720"/>
          </a:xfrm>
          <a:prstGeom prst="rect">
            <a:avLst/>
          </a:prstGeom>
          <a:solidFill>
            <a:srgbClr val="16213E"/>
          </a:solidFill>
          <a:ln w="317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81528" y="40050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6B900"/>
                </a:solidFill>
              </a:rPr>
              <a:t>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8" y="440740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</a:rPr>
              <a:t>Decide what
to 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65776" y="3931920"/>
            <a:ext cx="1920240" cy="1188720"/>
          </a:xfrm>
          <a:prstGeom prst="rect">
            <a:avLst/>
          </a:prstGeom>
          <a:solidFill>
            <a:srgbClr val="16213E"/>
          </a:solidFill>
          <a:ln w="31750">
            <a:solidFill>
              <a:srgbClr val="E58C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11496" y="40050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58C1A"/>
                </a:solidFill>
              </a:rPr>
              <a:t>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1496" y="440740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</a:rPr>
              <a:t>Call tools /
take 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95744" y="3931920"/>
            <a:ext cx="1920240" cy="1188720"/>
          </a:xfrm>
          <a:prstGeom prst="rect">
            <a:avLst/>
          </a:prstGeom>
          <a:solidFill>
            <a:srgbClr val="16213E"/>
          </a:solidFill>
          <a:ln w="31750">
            <a:solidFill>
              <a:srgbClr val="A06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41464" y="40050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A060E0"/>
                </a:solidFill>
              </a:rPr>
              <a:t>REMEMBER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41464" y="440740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</a:rPr>
              <a:t>Store context
&amp; state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25712" y="3931920"/>
            <a:ext cx="1920240" cy="1188720"/>
          </a:xfrm>
          <a:prstGeom prst="rect">
            <a:avLst/>
          </a:prstGeom>
          <a:solidFill>
            <a:srgbClr val="16213E"/>
          </a:solidFill>
          <a:ln w="317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1432" y="40050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C518"/>
                </a:solidFill>
              </a:rPr>
              <a:t>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440740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</a:rPr>
              <a:t>Return results
to human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</a:rPr>
              <a:t>v0.1  |  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6B9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The Universal Agent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Every agent — from a chatbot to an autonomous factory system — runs this loop.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2560320"/>
            <a:ext cx="2651760" cy="1645920"/>
          </a:xfrm>
          <a:prstGeom prst="rect">
            <a:avLst/>
          </a:prstGeom>
          <a:solidFill>
            <a:srgbClr val="0D2B45"/>
          </a:solidFill>
          <a:ln w="381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27889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6B900"/>
                </a:solidFill>
              </a:rPr>
              <a:t>THINK
(LLM / Planner)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33756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</a:rPr>
              <a:t>Reason about state
Select next action
Update 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88920"/>
            <a:ext cx="2468880" cy="1188720"/>
          </a:xfrm>
          <a:prstGeom prst="rect">
            <a:avLst/>
          </a:prstGeom>
          <a:solidFill>
            <a:srgbClr val="16213E"/>
          </a:solidFill>
          <a:ln w="3175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8072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54B4B"/>
                </a:solidFill>
              </a:rPr>
              <a:t>PERCEIVE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154680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AAAAA"/>
                </a:solidFill>
              </a:rPr>
              <a:t>Read inputs:
files · APIs · sensor data
user messages · tool 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2788920"/>
            <a:ext cx="2468880" cy="1188720"/>
          </a:xfrm>
          <a:prstGeom prst="rect">
            <a:avLst/>
          </a:prstGeom>
          <a:solidFill>
            <a:srgbClr val="16213E"/>
          </a:solidFill>
          <a:ln w="31750">
            <a:solidFill>
              <a:srgbClr val="E58C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28072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58C1A"/>
                </a:solidFill>
              </a:rPr>
              <a:t>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154680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AAAAA"/>
                </a:solidFill>
              </a:rPr>
              <a:t>Call tools:
APIs · code · search
write files · render · validate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914400"/>
            <a:ext cx="2651760" cy="1097280"/>
          </a:xfrm>
          <a:prstGeom prst="rect">
            <a:avLst/>
          </a:prstGeom>
          <a:solidFill>
            <a:srgbClr val="16213E"/>
          </a:solidFill>
          <a:ln w="31750">
            <a:solidFill>
              <a:srgbClr val="A06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93268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A060E0"/>
                </a:solidFill>
              </a:rPr>
              <a:t>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298448"/>
            <a:ext cx="2651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AAAAA"/>
                </a:solidFill>
              </a:rPr>
              <a:t>Short-term: conversation context
Long-term: vector DB, files, state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4846320"/>
            <a:ext cx="2651760" cy="1097280"/>
          </a:xfrm>
          <a:prstGeom prst="rect">
            <a:avLst/>
          </a:prstGeom>
          <a:solidFill>
            <a:srgbClr val="16213E"/>
          </a:solidFill>
          <a:ln w="317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486460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C518"/>
                </a:solidFill>
              </a:rPr>
              <a:t>HUMAN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5230368"/>
            <a:ext cx="2651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AAAAA"/>
                </a:solidFill>
              </a:rPr>
              <a:t>Provides goal · approves decisions
reviews output · gives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54B4B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566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AAAAAA"/>
                </a:solidFill>
              </a:rPr>
              <a:t>observations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58C1A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5661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AAAAAA"/>
                </a:solidFill>
              </a:rPr>
              <a:t>action calls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57200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AAAAA"/>
                </a:solidFill>
              </a:rPr>
              <a:t>tool results feed back as new observations (loop continues until goal met)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201168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060E0"/>
                </a:solidFill>
              </a:rPr>
              <a:t>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23957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AAAAAA"/>
                </a:solidFill>
              </a:rPr>
              <a:t>read/write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4315968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C518"/>
                </a:solidFill>
              </a:rPr>
              <a:t>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4681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AAAAAA"/>
                </a:solidFill>
              </a:rPr>
              <a:t>goal / feedback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5760720"/>
            <a:ext cx="11795760" cy="502920"/>
          </a:xfrm>
          <a:prstGeom prst="rect">
            <a:avLst/>
          </a:prstGeom>
          <a:solidFill>
            <a:srgbClr val="0D2B45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815584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6B900"/>
                </a:solidFill>
              </a:rPr>
              <a:t>The loop runs until: goal is met  ·  agent asks for human input  ·  max steps reached  ·  error requires escalation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6B9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The Three Layers of Any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Separate what the agent IS from what it KNOWS from what it CAN DO. This is the design principle.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14400"/>
            <a:ext cx="3840480" cy="5577840"/>
          </a:xfrm>
          <a:prstGeom prst="rect">
            <a:avLst/>
          </a:prstGeom>
          <a:solidFill>
            <a:srgbClr val="16213E"/>
          </a:solidFill>
          <a:ln w="317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914400"/>
            <a:ext cx="3840480" cy="685800"/>
          </a:xfrm>
          <a:prstGeom prst="rect">
            <a:avLst/>
          </a:prstGeom>
          <a:solidFill>
            <a:srgbClr val="76B9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94183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</a:rPr>
              <a:t>LAYER 1
BRAIN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2618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2E"/>
                </a:solidFill>
              </a:rPr>
              <a:t>The LLM / Planner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3566160" cy="914400"/>
          </a:xfrm>
          <a:prstGeom prst="rect">
            <a:avLst/>
          </a:prstGeom>
          <a:solidFill>
            <a:srgbClr val="0D2B45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6B900"/>
                </a:solidFill>
              </a:rPr>
              <a:t>Reasons about the 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48840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</a:rPr>
              <a:t>What do I need to do next?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61488"/>
            <a:ext cx="3566160" cy="914400"/>
          </a:xfrm>
          <a:prstGeom prst="rect">
            <a:avLst/>
          </a:prstGeom>
          <a:solidFill>
            <a:srgbClr val="0D2B45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0720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6B900"/>
                </a:solidFill>
              </a:rPr>
              <a:t>Selects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72968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</a:rPr>
              <a:t>Which skill/API solves this step?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85616"/>
            <a:ext cx="3566160" cy="914400"/>
          </a:xfrm>
          <a:prstGeom prst="rect">
            <a:avLst/>
          </a:prstGeom>
          <a:solidFill>
            <a:srgbClr val="0D2B45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83133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6B900"/>
                </a:solidFill>
              </a:rPr>
              <a:t>Evaluates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97096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</a:rPr>
              <a:t>Was that good enough? Retry?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09744"/>
            <a:ext cx="3566160" cy="914400"/>
          </a:xfrm>
          <a:prstGeom prst="rect">
            <a:avLst/>
          </a:prstGeom>
          <a:solidFill>
            <a:srgbClr val="0D2B45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85546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6B900"/>
                </a:solidFill>
              </a:rPr>
              <a:t>Decides when it's done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21224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</a:rPr>
              <a:t>Goal met, or escalate to human?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914400"/>
            <a:ext cx="3840480" cy="5577840"/>
          </a:xfrm>
          <a:prstGeom prst="rect">
            <a:avLst/>
          </a:prstGeom>
          <a:solidFill>
            <a:srgbClr val="16213E"/>
          </a:solidFill>
          <a:ln w="31750">
            <a:solidFill>
              <a:srgbClr val="A06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914400"/>
            <a:ext cx="3840480" cy="685800"/>
          </a:xfrm>
          <a:prstGeom prst="rect">
            <a:avLst/>
          </a:prstGeom>
          <a:solidFill>
            <a:srgbClr val="A060E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94183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</a:rPr>
              <a:t>LAYER 2
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12618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2E"/>
                </a:solidFill>
              </a:rPr>
              <a:t>State &amp; Context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1737360"/>
            <a:ext cx="3566160" cy="914400"/>
          </a:xfrm>
          <a:prstGeom prst="rect">
            <a:avLst/>
          </a:prstGeom>
          <a:solidFill>
            <a:srgbClr val="0D2B45"/>
          </a:solidFill>
          <a:ln w="12700">
            <a:solidFill>
              <a:srgbClr val="A06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17830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060E0"/>
                </a:solidFill>
              </a:rPr>
              <a:t>Working memory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2148840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</a:rPr>
              <a:t>Current task, last tool result, errors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2761488"/>
            <a:ext cx="3566160" cy="914400"/>
          </a:xfrm>
          <a:prstGeom prst="rect">
            <a:avLst/>
          </a:prstGeom>
          <a:solidFill>
            <a:srgbClr val="0D2B45"/>
          </a:solidFill>
          <a:ln w="12700">
            <a:solidFill>
              <a:srgbClr val="A06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280720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060E0"/>
                </a:solidFill>
              </a:rPr>
              <a:t>Long-term memory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3172968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</a:rPr>
              <a:t>Prior runs, learned preferences, KB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3785616"/>
            <a:ext cx="3566160" cy="914400"/>
          </a:xfrm>
          <a:prstGeom prst="rect">
            <a:avLst/>
          </a:prstGeom>
          <a:solidFill>
            <a:srgbClr val="0D2B45"/>
          </a:solidFill>
          <a:ln w="12700">
            <a:solidFill>
              <a:srgbClr val="A06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383133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060E0"/>
                </a:solidFill>
              </a:rPr>
              <a:t>Provenance 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197096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</a:rPr>
              <a:t>What ran, what confidence, why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4809744"/>
            <a:ext cx="3566160" cy="914400"/>
          </a:xfrm>
          <a:prstGeom prst="rect">
            <a:avLst/>
          </a:prstGeom>
          <a:solidFill>
            <a:srgbClr val="0D2B45"/>
          </a:solidFill>
          <a:ln w="12700">
            <a:solidFill>
              <a:srgbClr val="A06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0" y="485546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060E0"/>
                </a:solidFill>
              </a:rPr>
              <a:t>Human review queue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5221224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</a:rPr>
              <a:t>Items flagged for human approval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75320" y="914400"/>
            <a:ext cx="3840480" cy="5577840"/>
          </a:xfrm>
          <a:prstGeom prst="rect">
            <a:avLst/>
          </a:prstGeom>
          <a:solidFill>
            <a:srgbClr val="16213E"/>
          </a:solidFill>
          <a:ln w="3175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75320" y="914400"/>
            <a:ext cx="3840480" cy="685800"/>
          </a:xfrm>
          <a:prstGeom prst="rect">
            <a:avLst/>
          </a:prstGeom>
          <a:solidFill>
            <a:srgbClr val="008AC8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94183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</a:rPr>
              <a:t>LAYER 3
SKILLS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12618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2E"/>
                </a:solidFill>
              </a:rPr>
              <a:t>Tools the Agent Can Call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1737360"/>
            <a:ext cx="3566160" cy="914400"/>
          </a:xfrm>
          <a:prstGeom prst="rect">
            <a:avLst/>
          </a:prstGeom>
          <a:solidFill>
            <a:srgbClr val="0D2B45"/>
          </a:solidFill>
          <a:ln w="1270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3920" y="17830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8AC8"/>
                </a:solidFill>
              </a:rPr>
              <a:t>Each skill: one capability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2148840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</a:rPr>
              <a:t>Input schema → action → output schema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0" y="2761488"/>
            <a:ext cx="3566160" cy="914400"/>
          </a:xfrm>
          <a:prstGeom prst="rect">
            <a:avLst/>
          </a:prstGeom>
          <a:solidFill>
            <a:srgbClr val="0D2B45"/>
          </a:solidFill>
          <a:ln w="1270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3920" y="280720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8AC8"/>
                </a:solidFill>
              </a:rPr>
              <a:t>Skills are swappable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3172968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</a:rPr>
              <a:t>Swap implementation, keep interface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12480" y="3785616"/>
            <a:ext cx="3566160" cy="914400"/>
          </a:xfrm>
          <a:prstGeom prst="rect">
            <a:avLst/>
          </a:prstGeom>
          <a:solidFill>
            <a:srgbClr val="0D2B45"/>
          </a:solidFill>
          <a:ln w="1270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03920" y="383133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8AC8"/>
                </a:solidFill>
              </a:rPr>
              <a:t>Skills can call other agents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4197096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</a:rPr>
              <a:t>Multi-agent: delegate subproblems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12480" y="4809744"/>
            <a:ext cx="3566160" cy="914400"/>
          </a:xfrm>
          <a:prstGeom prst="rect">
            <a:avLst/>
          </a:prstGeom>
          <a:solidFill>
            <a:srgbClr val="0D2B45"/>
          </a:solidFill>
          <a:ln w="1270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03920" y="485546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8AC8"/>
                </a:solidFill>
              </a:rPr>
              <a:t>Skills fail gracefully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5221224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</a:rPr>
              <a:t>Return error + reason, never silent fail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5760720"/>
            <a:ext cx="11704320" cy="685800"/>
          </a:xfrm>
          <a:prstGeom prst="rect">
            <a:avLst/>
          </a:prstGeom>
          <a:solidFill>
            <a:srgbClr val="0D2B45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5815584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6B900"/>
                </a:solidFill>
              </a:rPr>
              <a:t>Design principle:  Brain stays generic. Memory scopes the context. Skills define the domain.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" y="6126480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</a:rPr>
              <a:t>Swap the skills → same agent works for Scan2Twin, invoice processing, or warehouse routing.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6B9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From Archetype → Scan2Twin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Apply the universal model. Fill in the domain-specific skills. Everything else is the same.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868680"/>
            <a:ext cx="5577840" cy="411480"/>
          </a:xfrm>
          <a:prstGeom prst="rect">
            <a:avLst/>
          </a:prstGeom>
          <a:solidFill>
            <a:srgbClr val="AAAAAA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88696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</a:rPr>
              <a:t>UNIVERSAL 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868680"/>
            <a:ext cx="5943600" cy="411480"/>
          </a:xfrm>
          <a:prstGeom prst="rect">
            <a:avLst/>
          </a:prstGeom>
          <a:solidFill>
            <a:srgbClr val="76B9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89320" y="88696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</a:rPr>
              <a:t>SCAN2TWIN 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417320"/>
            <a:ext cx="457200" cy="777240"/>
          </a:xfrm>
          <a:prstGeom prst="rect">
            <a:avLst/>
          </a:prstGeom>
          <a:solidFill>
            <a:srgbClr val="76B9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16002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1A1A2E"/>
                </a:solidFill>
              </a:rPr>
              <a:t>Brain / Planner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417320"/>
            <a:ext cx="51206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481328"/>
            <a:ext cx="4937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LLM — reasons, selects tools,
evaluates results, decides done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417320"/>
            <a:ext cx="5943600" cy="777240"/>
          </a:xfrm>
          <a:prstGeom prst="rect">
            <a:avLst/>
          </a:prstGeom>
          <a:solidFill>
            <a:srgbClr val="16213E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481328"/>
            <a:ext cx="5760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6B900"/>
                </a:solidFill>
              </a:rPr>
              <a:t>Same LLM. Scan2Twin system prompt
+ skill registry as context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286000"/>
            <a:ext cx="457200" cy="777240"/>
          </a:xfrm>
          <a:prstGeom prst="rect">
            <a:avLst/>
          </a:prstGeom>
          <a:solidFill>
            <a:srgbClr val="A060E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" y="24688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1A1A2E"/>
                </a:solidFill>
              </a:rPr>
              <a:t>Memory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286000"/>
            <a:ext cx="51206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A06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350008"/>
            <a:ext cx="4937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Working context + long-term store
Provenance log · Human review queue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2286000"/>
            <a:ext cx="5943600" cy="777240"/>
          </a:xfrm>
          <a:prstGeom prst="rect">
            <a:avLst/>
          </a:prstGeom>
          <a:solidFill>
            <a:srgbClr val="16213E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2350008"/>
            <a:ext cx="5760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6B900"/>
                </a:solidFill>
              </a:rPr>
              <a:t>Current point cloud state · per-object
confidence scores · run report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154680"/>
            <a:ext cx="457200" cy="777240"/>
          </a:xfrm>
          <a:prstGeom prst="rect">
            <a:avLst/>
          </a:prstGeom>
          <a:solidFill>
            <a:srgbClr val="E54B4B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" y="33375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1A1A2E"/>
                </a:solidFill>
              </a:rPr>
              <a:t>Perceive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154680"/>
            <a:ext cx="51206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218688"/>
            <a:ext cx="4937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Read environment:
files, APIs, sensor data, user input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3154680"/>
            <a:ext cx="5943600" cy="777240"/>
          </a:xfrm>
          <a:prstGeom prst="rect">
            <a:avLst/>
          </a:prstGeom>
          <a:solidFill>
            <a:srgbClr val="16213E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3218688"/>
            <a:ext cx="5760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6B900"/>
                </a:solidFill>
              </a:rPr>
              <a:t>Read E57/LAS/PLY point cloud
Read job config + object list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4023360"/>
            <a:ext cx="457200" cy="777240"/>
          </a:xfrm>
          <a:prstGeom prst="rect">
            <a:avLst/>
          </a:prstGeom>
          <a:solidFill>
            <a:srgbClr val="008AC8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" y="42062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1A1A2E"/>
                </a:solidFill>
              </a:rPr>
              <a:t>Skills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023360"/>
            <a:ext cx="51206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087368"/>
            <a:ext cx="4937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Domain-specific callable tools
One skill = one capability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4023360"/>
            <a:ext cx="5943600" cy="777240"/>
          </a:xfrm>
          <a:prstGeom prst="rect">
            <a:avLst/>
          </a:prstGeom>
          <a:solidFill>
            <a:srgbClr val="16213E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4087368"/>
            <a:ext cx="5760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6B900"/>
                </a:solidFill>
              </a:rPr>
              <a:t>Ingest · Segment · Recognize
Reconstruct · Materials · Assemble
Render (ovRTX) · Validate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4892040"/>
            <a:ext cx="457200" cy="777240"/>
          </a:xfrm>
          <a:prstGeom prst="rect">
            <a:avLst/>
          </a:prstGeom>
          <a:solidFill>
            <a:srgbClr val="E58C1A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8600" y="50749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1A1A2E"/>
                </a:solidFill>
              </a:rPr>
              <a:t>Act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892040"/>
            <a:ext cx="51206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E58C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956048"/>
            <a:ext cx="4937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Execute skill, get result
Loop: result → perceive → think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4892040"/>
            <a:ext cx="5943600" cy="777240"/>
          </a:xfrm>
          <a:prstGeom prst="rect">
            <a:avLst/>
          </a:prstGeom>
          <a:solidFill>
            <a:srgbClr val="16213E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4956048"/>
            <a:ext cx="5760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6B900"/>
                </a:solidFill>
              </a:rPr>
              <a:t>Call NVCF endpoints, open3d, Physna
Assemble USD prims, run validator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5760720"/>
            <a:ext cx="457200" cy="777240"/>
          </a:xfrm>
          <a:prstGeom prst="rect">
            <a:avLst/>
          </a:prstGeom>
          <a:solidFill>
            <a:srgbClr val="F5C518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8600" y="5943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1A1A2E"/>
                </a:solidFill>
              </a:rPr>
              <a:t>Human checkpoint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5760720"/>
            <a:ext cx="512064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824728"/>
            <a:ext cx="4937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Escalate low-confidence decisions
Return final result for review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89320" y="5760720"/>
            <a:ext cx="5943600" cy="777240"/>
          </a:xfrm>
          <a:prstGeom prst="rect">
            <a:avLst/>
          </a:prstGeom>
          <a:solidFill>
            <a:srgbClr val="16213E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5824728"/>
            <a:ext cx="5760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76B900"/>
                </a:solidFill>
              </a:rPr>
              <a:t>Flag objects below match threshold
Deliver SimReady USD + run report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6263640"/>
            <a:ext cx="11704320" cy="411480"/>
          </a:xfrm>
          <a:prstGeom prst="rect">
            <a:avLst/>
          </a:prstGeom>
          <a:solidFill>
            <a:srgbClr val="0D2B45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630936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6B900"/>
                </a:solidFill>
              </a:rPr>
              <a:t>The agent code doesn't change when you add ovRTX rendering or swap Physna for a different CAD matcher. Only the skill registry changes.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6B9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What Makes a Good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Skills are the atomic unit of agent capability. Get the interface right and the rest is pluggable.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5486400" cy="914400"/>
          </a:xfrm>
          <a:prstGeom prst="rect">
            <a:avLst/>
          </a:prstGeom>
          <a:solidFill>
            <a:srgbClr val="16213E"/>
          </a:solidFill>
          <a:ln w="254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960120"/>
            <a:ext cx="502920" cy="914400"/>
          </a:xfrm>
          <a:prstGeom prst="rect">
            <a:avLst/>
          </a:prstGeom>
          <a:solidFill>
            <a:srgbClr val="76B9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21615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1A1A2E"/>
                </a:solidFill>
              </a:rPr>
              <a:t>1. One job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0515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A skill does exactly one thing.
No side effects. No hidden state.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938528"/>
            <a:ext cx="5486400" cy="914400"/>
          </a:xfrm>
          <a:prstGeom prst="rect">
            <a:avLst/>
          </a:prstGeom>
          <a:solidFill>
            <a:srgbClr val="16213E"/>
          </a:solidFill>
          <a:ln w="2540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938528"/>
            <a:ext cx="502920" cy="914400"/>
          </a:xfrm>
          <a:prstGeom prst="rect">
            <a:avLst/>
          </a:prstGeom>
          <a:solidFill>
            <a:srgbClr val="008AC8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2194560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1A1A2E"/>
                </a:solidFill>
              </a:rPr>
              <a:t>2. Typed I/O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02996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Explicit input_schema + output_schema.
Agent can reason about inputs/outputs.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916936"/>
            <a:ext cx="5486400" cy="914400"/>
          </a:xfrm>
          <a:prstGeom prst="rect">
            <a:avLst/>
          </a:prstGeom>
          <a:solidFill>
            <a:srgbClr val="16213E"/>
          </a:solidFill>
          <a:ln w="25400">
            <a:solidFill>
              <a:srgbClr val="E58C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916936"/>
            <a:ext cx="502920" cy="914400"/>
          </a:xfrm>
          <a:prstGeom prst="rect">
            <a:avLst/>
          </a:prstGeom>
          <a:solidFill>
            <a:srgbClr val="E58C1A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" y="3172968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1A1A2E"/>
                </a:solidFill>
              </a:rPr>
              <a:t>3. Fails loudly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008376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Return structured error + reason.
Never silent failure — agent can't recover what it can't see.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895344"/>
            <a:ext cx="5486400" cy="914400"/>
          </a:xfrm>
          <a:prstGeom prst="rect">
            <a:avLst/>
          </a:prstGeom>
          <a:solidFill>
            <a:srgbClr val="16213E"/>
          </a:solidFill>
          <a:ln w="25400">
            <a:solidFill>
              <a:srgbClr val="A06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895344"/>
            <a:ext cx="502920" cy="914400"/>
          </a:xfrm>
          <a:prstGeom prst="rect">
            <a:avLst/>
          </a:prstGeom>
          <a:solidFill>
            <a:srgbClr val="A060E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" y="4151376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1A1A2E"/>
                </a:solidFill>
              </a:rPr>
              <a:t>4. Swappable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986784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Implementation can change.
Interface cannot. Version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4873752"/>
            <a:ext cx="5486400" cy="914400"/>
          </a:xfrm>
          <a:prstGeom prst="rect">
            <a:avLst/>
          </a:prstGeom>
          <a:solidFill>
            <a:srgbClr val="16213E"/>
          </a:solidFill>
          <a:ln w="2540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4873752"/>
            <a:ext cx="502920" cy="914400"/>
          </a:xfrm>
          <a:prstGeom prst="rect">
            <a:avLst/>
          </a:prstGeom>
          <a:solidFill>
            <a:srgbClr val="E54B4B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" y="5129784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1A1A2E"/>
                </a:solidFill>
              </a:rPr>
              <a:t>5. Reports confidence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965192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Return a confidence score.
Agent decides whether to accept, retry, or escalate.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5852160"/>
            <a:ext cx="5486400" cy="914400"/>
          </a:xfrm>
          <a:prstGeom prst="rect">
            <a:avLst/>
          </a:prstGeom>
          <a:solidFill>
            <a:srgbClr val="16213E"/>
          </a:solidFill>
          <a:ln w="254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5852160"/>
            <a:ext cx="502920" cy="914400"/>
          </a:xfrm>
          <a:prstGeom prst="rect">
            <a:avLst/>
          </a:prstGeom>
          <a:solidFill>
            <a:srgbClr val="F5C518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" y="610819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1A1A2E"/>
                </a:solidFill>
              </a:rPr>
              <a:t>6. Idempotent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59436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Same input → same output.
Agent can safely retry without side effects.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960120"/>
            <a:ext cx="5852160" cy="5623560"/>
          </a:xfrm>
          <a:prstGeom prst="rect">
            <a:avLst/>
          </a:prstGeom>
          <a:solidFill>
            <a:srgbClr val="16213E"/>
          </a:solidFill>
          <a:ln w="2540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97840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8AC8"/>
                </a:solidFill>
              </a:rPr>
              <a:t>Example: Segment Skill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1417320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skill: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1664208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</a:rPr>
              <a:t>  name: "segment"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1911095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</a:rPr>
              <a:t>  version: "1.2"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2157984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2404872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input_schema: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2651760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8AC8"/>
                </a:solidFill>
              </a:rPr>
              <a:t>  point_cloud: PointCloud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2898648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8AC8"/>
                </a:solidFill>
              </a:rPr>
              <a:t>  algorithm: enum[euclidean, dbscan]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3145536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8AC8"/>
                </a:solidFill>
              </a:rPr>
              <a:t>  min_cluster_size: 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3392424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3639312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output_schema: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3886200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6B900"/>
                </a:solidFill>
              </a:rPr>
              <a:t>  clusters: List[ObjectCluster]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4133087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6B900"/>
                </a:solidFill>
              </a:rPr>
              <a:t>  confidence: float  # 0.0 - 1.0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4379975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6B900"/>
                </a:solidFill>
              </a:rPr>
              <a:t>  warnings: List[str]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4626863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4873751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on_error: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5120639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54B4B"/>
                </a:solidFill>
              </a:rPr>
              <a:t>  return: SkillError(code, reason, retry_ok)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5367527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72200" y="5614415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swappable_implementations: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5861303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</a:rPr>
              <a:t>  - open3d_euclidean  # default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72200" y="6108191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</a:rPr>
              <a:t>  - open3d_dbscan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6355079"/>
            <a:ext cx="5577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</a:rPr>
              <a:t>  - custom_dl_model   # post-EA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