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6B9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Scan2Twin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23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76B900"/>
                </a:solidFill>
              </a:rPr>
              <a:t>Reference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AAAA"/>
                </a:solidFill>
              </a:rPr>
              <a:t>Point Cloud  →  SimReady USD Digital Twin
Agent-centric · Modular · Cloud-native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v0.2  |  Internal — Engineering &amp; Agent Requirements Spec</a:t>
            </a:r>
          </a:p>
        </p:txBody>
      </p:sp>
      <p:sp>
        <p:nvSpPr>
          <p:cNvPr id="8" name="Rectangle 7"/>
          <p:cNvSpPr/>
          <p:nvPr/>
        </p:nvSpPr>
        <p:spPr>
          <a:xfrm>
            <a:off x="1293876" y="5029200"/>
            <a:ext cx="1783080" cy="292608"/>
          </a:xfrm>
          <a:prstGeom prst="rect">
            <a:avLst/>
          </a:prstGeom>
          <a:solidFill>
            <a:srgbClr val="16213E"/>
          </a:solidFill>
          <a:ln w="254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39596" y="504748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6B900"/>
                </a:solidFill>
              </a:rPr>
              <a:t>NVIDIA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4116" y="5029200"/>
            <a:ext cx="1783080" cy="292608"/>
          </a:xfrm>
          <a:prstGeom prst="rect">
            <a:avLst/>
          </a:prstGeom>
          <a:solidFill>
            <a:srgbClr val="16213E"/>
          </a:solidFill>
          <a:ln w="2540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59836" y="504748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54B4B"/>
                </a:solidFill>
              </a:rPr>
              <a:t>Physna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34356" y="5029200"/>
            <a:ext cx="1783080" cy="292608"/>
          </a:xfrm>
          <a:prstGeom prst="rect">
            <a:avLst/>
          </a:prstGeom>
          <a:solidFill>
            <a:srgbClr val="16213E"/>
          </a:solidFill>
          <a:ln w="25400">
            <a:solidFill>
              <a:srgbClr val="E58C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0076" y="504748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58C1A"/>
                </a:solidFill>
              </a:rPr>
              <a:t>Siemens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54596" y="5029200"/>
            <a:ext cx="1783080" cy="292608"/>
          </a:xfrm>
          <a:prstGeom prst="rect">
            <a:avLst/>
          </a:prstGeom>
          <a:solidFill>
            <a:srgbClr val="16213E"/>
          </a:solidFill>
          <a:ln w="2540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00316" y="504748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8AC8"/>
                </a:solidFill>
              </a:rPr>
              <a:t>OSS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74836" y="5029200"/>
            <a:ext cx="1783080" cy="292608"/>
          </a:xfrm>
          <a:prstGeom prst="rect">
            <a:avLst/>
          </a:prstGeom>
          <a:solidFill>
            <a:srgbClr val="16213E"/>
          </a:solidFill>
          <a:ln w="254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20556" y="504748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5C518"/>
                </a:solidFill>
              </a:rPr>
              <a:t>Glue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6B9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The Scan2Twin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21207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One agent. A library of skills. No fixed sequence — the agent decides what to call and when.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2468880"/>
            <a:ext cx="3200400" cy="1463040"/>
          </a:xfrm>
          <a:prstGeom prst="rect">
            <a:avLst/>
          </a:prstGeom>
          <a:solidFill>
            <a:srgbClr val="0D2B45"/>
          </a:solidFill>
          <a:ln w="381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25603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6B900"/>
                </a:solidFill>
              </a:rPr>
              <a:t>SCAN2TWIN
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3108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AAAAA"/>
                </a:solidFill>
              </a:rPr>
              <a:t>Receives job · Plans steps
Calls skills · Evaluates results
Retries · Reports provenance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914400"/>
            <a:ext cx="2651760" cy="1005840"/>
          </a:xfrm>
          <a:prstGeom prst="rect">
            <a:avLst/>
          </a:prstGeom>
          <a:solidFill>
            <a:srgbClr val="16213E"/>
          </a:solidFill>
          <a:ln w="3175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" y="969264"/>
            <a:ext cx="2505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8AC8"/>
                </a:solidFill>
              </a:rPr>
              <a:t>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1316736"/>
            <a:ext cx="25054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</a:rPr>
              <a:t>pye57 + open3d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926080"/>
            <a:ext cx="2651760" cy="1005840"/>
          </a:xfrm>
          <a:prstGeom prst="rect">
            <a:avLst/>
          </a:prstGeom>
          <a:solidFill>
            <a:srgbClr val="16213E"/>
          </a:solidFill>
          <a:ln w="3175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" y="2980944"/>
            <a:ext cx="2505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8AC8"/>
                </a:solidFill>
              </a:rPr>
              <a:t>Segment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" y="3328416"/>
            <a:ext cx="25054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</a:rPr>
              <a:t>open3d / DBSCAN
(swappable)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846320"/>
            <a:ext cx="2651760" cy="1005840"/>
          </a:xfrm>
          <a:prstGeom prst="rect">
            <a:avLst/>
          </a:prstGeom>
          <a:solidFill>
            <a:srgbClr val="16213E"/>
          </a:solidFill>
          <a:ln w="3175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" y="4901183"/>
            <a:ext cx="2505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4B4B"/>
                </a:solidFill>
              </a:rPr>
              <a:t>Recognize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" y="5248656"/>
            <a:ext cx="25054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</a:rPr>
              <a:t>Physna geometric
search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914400"/>
            <a:ext cx="2651760" cy="1005840"/>
          </a:xfrm>
          <a:prstGeom prst="rect">
            <a:avLst/>
          </a:prstGeom>
          <a:solidFill>
            <a:srgbClr val="16213E"/>
          </a:solidFill>
          <a:ln w="3175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51392" y="969264"/>
            <a:ext cx="2505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4B4B"/>
                </a:solidFill>
              </a:rPr>
              <a:t>Reconstruct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1392" y="1316736"/>
            <a:ext cx="25054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</a:rPr>
              <a:t>open3d mesh +
Physna CAD swap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2926080"/>
            <a:ext cx="2651760" cy="1005840"/>
          </a:xfrm>
          <a:prstGeom prst="rect">
            <a:avLst/>
          </a:prstGeom>
          <a:solidFill>
            <a:srgbClr val="16213E"/>
          </a:solidFill>
          <a:ln w="317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51392" y="2980944"/>
            <a:ext cx="2505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6B900"/>
                </a:solidFill>
              </a:rPr>
              <a:t>Assign 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1392" y="3328416"/>
            <a:ext cx="25054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</a:rPr>
              <a:t>NVCF AI Material
Agent + MDL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4846320"/>
            <a:ext cx="2651760" cy="1005840"/>
          </a:xfrm>
          <a:prstGeom prst="rect">
            <a:avLst/>
          </a:prstGeom>
          <a:solidFill>
            <a:srgbClr val="16213E"/>
          </a:solidFill>
          <a:ln w="317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51392" y="4901183"/>
            <a:ext cx="2505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6B900"/>
                </a:solidFill>
              </a:rPr>
              <a:t>Assemble &amp; Validate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1392" y="5248656"/>
            <a:ext cx="25054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</a:rPr>
              <a:t>OpenUSD SDK +
SimReady validator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13258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AAAA"/>
                </a:solidFill>
              </a:rPr>
              <a:t>calls 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3375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AAAA"/>
                </a:solidFill>
              </a:rPr>
              <a:t>calls 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25780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AAAA"/>
                </a:solidFill>
              </a:rPr>
              <a:t>calls 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AAAA"/>
                </a:solidFill>
              </a:rPr>
              <a:t>← calls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3375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AAAA"/>
                </a:solidFill>
              </a:rPr>
              <a:t>← calls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52578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AAAA"/>
                </a:solidFill>
              </a:rPr>
              <a:t>← calls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0" y="960120"/>
            <a:ext cx="3200400" cy="594360"/>
          </a:xfrm>
          <a:prstGeom prst="rect">
            <a:avLst/>
          </a:prstGeom>
          <a:solidFill>
            <a:srgbClr val="16213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1005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</a:rPr>
              <a:t>INPUT: E57 / LAS / PLY Point Cloud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7880" y="1508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AAAA"/>
                </a:solidFill>
              </a:rPr>
              <a:t>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0" y="5486400"/>
            <a:ext cx="3200400" cy="594360"/>
          </a:xfrm>
          <a:prstGeom prst="rect">
            <a:avLst/>
          </a:prstGeom>
          <a:solidFill>
            <a:srgbClr val="16213E"/>
          </a:solidFill>
          <a:ln w="254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0" y="55321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6B900"/>
                </a:solidFill>
              </a:rPr>
              <a:t>OUTPUT: SimReady USD Digital Twin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80" y="51663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6B900"/>
                </a:solidFill>
              </a:rPr>
              <a:t>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93876" y="6446520"/>
            <a:ext cx="1783080" cy="292608"/>
          </a:xfrm>
          <a:prstGeom prst="rect">
            <a:avLst/>
          </a:prstGeom>
          <a:solidFill>
            <a:srgbClr val="16213E"/>
          </a:solidFill>
          <a:ln w="254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39596" y="6464807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6B900"/>
                </a:solidFill>
              </a:rPr>
              <a:t>NVIDIA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14116" y="6446520"/>
            <a:ext cx="1783080" cy="292608"/>
          </a:xfrm>
          <a:prstGeom prst="rect">
            <a:avLst/>
          </a:prstGeom>
          <a:solidFill>
            <a:srgbClr val="16213E"/>
          </a:solidFill>
          <a:ln w="2540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59836" y="6464807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54B4B"/>
                </a:solidFill>
              </a:rPr>
              <a:t>Physna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34356" y="6446520"/>
            <a:ext cx="1783080" cy="292608"/>
          </a:xfrm>
          <a:prstGeom prst="rect">
            <a:avLst/>
          </a:prstGeom>
          <a:solidFill>
            <a:srgbClr val="16213E"/>
          </a:solidFill>
          <a:ln w="25400">
            <a:solidFill>
              <a:srgbClr val="E58C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80076" y="6464807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58C1A"/>
                </a:solidFill>
              </a:rPr>
              <a:t>Siemens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54596" y="6446520"/>
            <a:ext cx="1783080" cy="292608"/>
          </a:xfrm>
          <a:prstGeom prst="rect">
            <a:avLst/>
          </a:prstGeom>
          <a:solidFill>
            <a:srgbClr val="16213E"/>
          </a:solidFill>
          <a:ln w="2540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00316" y="6464807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8AC8"/>
                </a:solidFill>
              </a:rPr>
              <a:t>OSS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74836" y="6446520"/>
            <a:ext cx="1783080" cy="292608"/>
          </a:xfrm>
          <a:prstGeom prst="rect">
            <a:avLst/>
          </a:prstGeom>
          <a:solidFill>
            <a:srgbClr val="16213E"/>
          </a:solidFill>
          <a:ln w="254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20556" y="6464807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5C518"/>
                </a:solidFill>
              </a:rPr>
              <a:t>Glue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6B9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Skills — What Each One Wraps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21207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Each skill is an agent-callable tool with a defined input/output contract. Swap the implementation; keep the interface.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448" y="960120"/>
            <a:ext cx="1871471" cy="384048"/>
          </a:xfrm>
          <a:prstGeom prst="rect">
            <a:avLst/>
          </a:prstGeom>
          <a:solidFill>
            <a:srgbClr val="16213E"/>
          </a:solidFill>
          <a:ln w="3175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987552"/>
            <a:ext cx="1780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8AC8"/>
                </a:solidFill>
              </a:rPr>
              <a:t>Ingest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417320"/>
            <a:ext cx="1780032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" y="1472184"/>
            <a:ext cx="1670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8AC8"/>
                </a:solidFill>
              </a:rPr>
              <a:t>pye57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" y="1801368"/>
            <a:ext cx="167030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E57 native read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2606040"/>
            <a:ext cx="1780032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" y="2660904"/>
            <a:ext cx="1670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8AC8"/>
                </a:solidFill>
              </a:rPr>
              <a:t>open3d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" y="2990088"/>
            <a:ext cx="167030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Voxel downsample, outlier filter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3794760"/>
            <a:ext cx="1780032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" y="3849624"/>
            <a:ext cx="1670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C518"/>
                </a:solidFill>
              </a:rPr>
              <a:t>Coord normalize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" y="4178808"/>
            <a:ext cx="167030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Floor=Z0, centroid=XY origin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36648" y="960120"/>
            <a:ext cx="1871471" cy="384048"/>
          </a:xfrm>
          <a:prstGeom prst="rect">
            <a:avLst/>
          </a:prstGeom>
          <a:solidFill>
            <a:srgbClr val="16213E"/>
          </a:solidFill>
          <a:ln w="3175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1512" y="987552"/>
            <a:ext cx="1780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8AC8"/>
                </a:solidFill>
              </a:rPr>
              <a:t>Segment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82367" y="1417320"/>
            <a:ext cx="1780032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46376" y="1472184"/>
            <a:ext cx="1670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8AC8"/>
                </a:solidFill>
              </a:rPr>
              <a:t>Euclidean cluster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6376" y="1801368"/>
            <a:ext cx="167030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Default — no GPU needed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82367" y="2606040"/>
            <a:ext cx="1780032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46376" y="2660904"/>
            <a:ext cx="1670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8AC8"/>
                </a:solidFill>
              </a:rPr>
              <a:t>DBSCAN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6376" y="2990088"/>
            <a:ext cx="167030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Swappable via skill config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82367" y="3794760"/>
            <a:ext cx="1780032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46376" y="3849624"/>
            <a:ext cx="1670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C518"/>
                </a:solidFill>
              </a:rPr>
              <a:t>Skill registry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6376" y="4178808"/>
            <a:ext cx="167030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Register any new algorithm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7847" y="960120"/>
            <a:ext cx="1871471" cy="384048"/>
          </a:xfrm>
          <a:prstGeom prst="rect">
            <a:avLst/>
          </a:prstGeom>
          <a:solidFill>
            <a:srgbClr val="16213E"/>
          </a:solidFill>
          <a:ln w="3175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72711" y="987552"/>
            <a:ext cx="1780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54B4B"/>
                </a:solidFill>
              </a:rPr>
              <a:t>Recognize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3567" y="1417320"/>
            <a:ext cx="1780032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27576" y="1472184"/>
            <a:ext cx="1670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54B4B"/>
                </a:solidFill>
              </a:rPr>
              <a:t>Physna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27576" y="1801368"/>
            <a:ext cx="167030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Geometric CAD search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3567" y="2606040"/>
            <a:ext cx="1780032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27576" y="2660904"/>
            <a:ext cx="1670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76B900"/>
                </a:solidFill>
              </a:rPr>
              <a:t>VLM fallback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27576" y="2990088"/>
            <a:ext cx="167030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NVCF vision model if no Physna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3567" y="3794760"/>
            <a:ext cx="1780032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27576" y="3849624"/>
            <a:ext cx="1670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C518"/>
                </a:solidFill>
              </a:rPr>
              <a:t>Result schema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27576" y="4178808"/>
            <a:ext cx="167030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label, confidence, cad_id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9048" y="960120"/>
            <a:ext cx="1871471" cy="384048"/>
          </a:xfrm>
          <a:prstGeom prst="rect">
            <a:avLst/>
          </a:prstGeom>
          <a:solidFill>
            <a:srgbClr val="16213E"/>
          </a:solidFill>
          <a:ln w="3175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3912" y="987552"/>
            <a:ext cx="1780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54B4B"/>
                </a:solidFill>
              </a:rPr>
              <a:t>Reconstruct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44768" y="1417320"/>
            <a:ext cx="1780032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08776" y="1472184"/>
            <a:ext cx="1670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8AC8"/>
                </a:solidFill>
              </a:rPr>
              <a:t>open3d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8776" y="1801368"/>
            <a:ext cx="167030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Poisson/BPA mesh from cluster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44768" y="2606040"/>
            <a:ext cx="1780032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08776" y="2660904"/>
            <a:ext cx="1670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54B4B"/>
                </a:solidFill>
              </a:rPr>
              <a:t>Physna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08776" y="2990088"/>
            <a:ext cx="167030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CAD swap on high confidence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3794760"/>
            <a:ext cx="1780032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08776" y="3849624"/>
            <a:ext cx="1670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76B900"/>
                </a:solidFill>
              </a:rPr>
              <a:t>OpenUSD SDK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08776" y="4178808"/>
            <a:ext cx="167030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Assemble as UsdGeomMesh prim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80247" y="960120"/>
            <a:ext cx="1871471" cy="384048"/>
          </a:xfrm>
          <a:prstGeom prst="rect">
            <a:avLst/>
          </a:prstGeom>
          <a:solidFill>
            <a:srgbClr val="16213E"/>
          </a:solidFill>
          <a:ln w="317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35112" y="987552"/>
            <a:ext cx="1780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6B900"/>
                </a:solidFill>
              </a:rPr>
              <a:t>Assign Materials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25968" y="1417320"/>
            <a:ext cx="1780032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89975" y="1472184"/>
            <a:ext cx="1670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76B900"/>
                </a:solidFill>
              </a:rPr>
              <a:t>AI Material Agent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89975" y="1801368"/>
            <a:ext cx="167030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NVCF — label → MDL material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25968" y="2606040"/>
            <a:ext cx="1780032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89975" y="2660904"/>
            <a:ext cx="1670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76B900"/>
                </a:solidFill>
              </a:rPr>
              <a:t>MDL library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89975" y="2990088"/>
            <a:ext cx="167030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NVIDIA material definitions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25968" y="3794760"/>
            <a:ext cx="1780032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89975" y="3849624"/>
            <a:ext cx="1670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C518"/>
                </a:solidFill>
              </a:rPr>
              <a:t>Fallback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89975" y="4178808"/>
            <a:ext cx="167030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Default grey if API fails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061447" y="960120"/>
            <a:ext cx="1871471" cy="384048"/>
          </a:xfrm>
          <a:prstGeom prst="rect">
            <a:avLst/>
          </a:prstGeom>
          <a:solidFill>
            <a:srgbClr val="16213E"/>
          </a:solidFill>
          <a:ln w="317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116312" y="987552"/>
            <a:ext cx="1780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6B900"/>
                </a:solidFill>
              </a:rPr>
              <a:t>Assemble &amp; Validate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107168" y="1417320"/>
            <a:ext cx="1780032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171175" y="1472184"/>
            <a:ext cx="1670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76B900"/>
                </a:solidFill>
              </a:rPr>
              <a:t>OpenUSD SDK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71175" y="1801368"/>
            <a:ext cx="167030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Stage assembly + hierarchy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107168" y="2606040"/>
            <a:ext cx="1780032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71175" y="2660904"/>
            <a:ext cx="1670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76B900"/>
                </a:solidFill>
              </a:rPr>
              <a:t>SimReady validator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71175" y="2990088"/>
            <a:ext cx="167030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Standalone lib — checks spec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107168" y="3794760"/>
            <a:ext cx="1780032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E58C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71175" y="3849624"/>
            <a:ext cx="1670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58C1A"/>
                </a:solidFill>
              </a:rPr>
              <a:t>Siemens adapter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171175" y="4178808"/>
            <a:ext cx="167030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</a:rPr>
              <a:t>DTC export (post-EA)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293876" y="6446520"/>
            <a:ext cx="1783080" cy="292608"/>
          </a:xfrm>
          <a:prstGeom prst="rect">
            <a:avLst/>
          </a:prstGeom>
          <a:solidFill>
            <a:srgbClr val="16213E"/>
          </a:solidFill>
          <a:ln w="254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339596" y="6464807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6B900"/>
                </a:solidFill>
              </a:rPr>
              <a:t>NVIDIA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14116" y="6446520"/>
            <a:ext cx="1783080" cy="292608"/>
          </a:xfrm>
          <a:prstGeom prst="rect">
            <a:avLst/>
          </a:prstGeom>
          <a:solidFill>
            <a:srgbClr val="16213E"/>
          </a:solidFill>
          <a:ln w="2540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259836" y="6464807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54B4B"/>
                </a:solidFill>
              </a:rPr>
              <a:t>Physna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134356" y="6446520"/>
            <a:ext cx="1783080" cy="292608"/>
          </a:xfrm>
          <a:prstGeom prst="rect">
            <a:avLst/>
          </a:prstGeom>
          <a:solidFill>
            <a:srgbClr val="16213E"/>
          </a:solidFill>
          <a:ln w="25400">
            <a:solidFill>
              <a:srgbClr val="E58C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180076" y="6464807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58C1A"/>
                </a:solidFill>
              </a:rPr>
              <a:t>Siemens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054596" y="6446520"/>
            <a:ext cx="1783080" cy="292608"/>
          </a:xfrm>
          <a:prstGeom prst="rect">
            <a:avLst/>
          </a:prstGeom>
          <a:solidFill>
            <a:srgbClr val="16213E"/>
          </a:solidFill>
          <a:ln w="2540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100316" y="6464807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8AC8"/>
                </a:solidFill>
              </a:rPr>
              <a:t>OSS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74836" y="6446520"/>
            <a:ext cx="1783080" cy="292608"/>
          </a:xfrm>
          <a:prstGeom prst="rect">
            <a:avLst/>
          </a:prstGeom>
          <a:solidFill>
            <a:srgbClr val="16213E"/>
          </a:solidFill>
          <a:ln w="254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020556" y="6464807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5C518"/>
                </a:solidFill>
              </a:rPr>
              <a:t>Glue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6B9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Agent Decision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21207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The agent isn't just a runner — it evaluates, retries, and adapts. Skills can be swapped without rewriting the agent.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3566160" cy="5303520"/>
          </a:xfrm>
          <a:prstGeom prst="rect">
            <a:avLst/>
          </a:prstGeom>
          <a:solidFill>
            <a:srgbClr val="16213E"/>
          </a:solidFill>
          <a:ln w="317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3566160" cy="384048"/>
          </a:xfrm>
          <a:prstGeom prst="rect">
            <a:avLst/>
          </a:prstGeom>
          <a:solidFill>
            <a:srgbClr val="76B9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87552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</a:rPr>
              <a:t>What the Agent Knows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44475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Available skills + their schemas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90195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Input file type + metadata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35915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Per-skill confidence thresholds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81635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Retry budget per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27355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Human-review escalation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373075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Run history (provenance)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78807" y="960120"/>
            <a:ext cx="3566160" cy="5303520"/>
          </a:xfrm>
          <a:prstGeom prst="rect">
            <a:avLst/>
          </a:prstGeom>
          <a:solidFill>
            <a:srgbClr val="16213E"/>
          </a:solidFill>
          <a:ln w="3175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78807" y="960120"/>
            <a:ext cx="3566160" cy="384048"/>
          </a:xfrm>
          <a:prstGeom prst="rect">
            <a:avLst/>
          </a:prstGeom>
          <a:solidFill>
            <a:srgbClr val="E54B4B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0247" y="987552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</a:rPr>
              <a:t>What the Agent Decides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399" y="144475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Which skill to call 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399" y="190195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Which algorithm variant to use
(e.g. DBSCAN vs Euclidean)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399" y="256032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Whether to accept a result
or retry with different params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399" y="3218687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Whether to substitute clean CAD
or use scan-derived mesh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399" y="3877055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Whether to escalate to
human review queue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83296" y="960120"/>
            <a:ext cx="3566160" cy="5303520"/>
          </a:xfrm>
          <a:prstGeom prst="rect">
            <a:avLst/>
          </a:prstGeom>
          <a:solidFill>
            <a:srgbClr val="16213E"/>
          </a:solidFill>
          <a:ln w="317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83296" y="960120"/>
            <a:ext cx="3566160" cy="384048"/>
          </a:xfrm>
          <a:prstGeom prst="rect">
            <a:avLst/>
          </a:prstGeom>
          <a:solidFill>
            <a:srgbClr val="76B9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74736" y="987552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</a:rPr>
              <a:t>What It Produces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144475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SimReady USD stage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190195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Per-object run report: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235915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</a:rPr>
              <a:t>  · skill called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281635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</a:rPr>
              <a:t>  · algorithm used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327355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</a:rPr>
              <a:t>  · confidence 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373075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</a:rPr>
              <a:t>  · CAD match or scan-derived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7888" y="418795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</a:rPr>
              <a:t>  · material assigned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464515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Validation report (pass/fail)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486400"/>
            <a:ext cx="11612880" cy="914400"/>
          </a:xfrm>
          <a:prstGeom prst="rect">
            <a:avLst/>
          </a:prstGeom>
          <a:solidFill>
            <a:srgbClr val="0D2B45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55955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C518"/>
                </a:solidFill>
              </a:rPr>
              <a:t>Swapping a skill implementation = change one line in config. Agent auto-discovers via registry. No agent rewrite needed.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9436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</a:rPr>
              <a:t>Example:  segment.algorithm: "dbscan"   →   agent picks up DBSCAN on next run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6B9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Ownership &amp;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21207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NVIDIA ships the agent + skill framework. Partners provide specialized libraries. Glue code is minimal and visible.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05840"/>
            <a:ext cx="11795760" cy="960120"/>
          </a:xfrm>
          <a:prstGeom prst="rect">
            <a:avLst/>
          </a:prstGeom>
          <a:solidFill>
            <a:srgbClr val="16213E"/>
          </a:solidFill>
          <a:ln w="254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05840"/>
            <a:ext cx="1188720" cy="960120"/>
          </a:xfrm>
          <a:prstGeom prst="rect">
            <a:avLst/>
          </a:prstGeom>
          <a:solidFill>
            <a:srgbClr val="76B9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2801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</a:rPr>
              <a:t>NVIDIA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060704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Agent framework · Skill interfaces · NVCF runtime
OpenUSD SDK · AI Material Agent · MDL library
ovRTX renderer · SimReady validator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060704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</a:rPr>
              <a:t>Builds and maintains the agent, skill contracts, and all NVIDIA-owned tool implementations.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2084832"/>
            <a:ext cx="11795760" cy="960120"/>
          </a:xfrm>
          <a:prstGeom prst="rect">
            <a:avLst/>
          </a:prstGeom>
          <a:solidFill>
            <a:srgbClr val="16213E"/>
          </a:solidFill>
          <a:ln w="2540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2084832"/>
            <a:ext cx="1188720" cy="960120"/>
          </a:xfrm>
          <a:prstGeom prst="rect">
            <a:avLst/>
          </a:prstGeom>
          <a:solidFill>
            <a:srgbClr val="E54B4B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235915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</a:rPr>
              <a:t>Physna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139696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Geometric CAD search library / API
CAD substitution (clean mesh swap)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139696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</a:rPr>
              <a:t>Primary partner for object recognition. Skills wrap their API — swap in or out without touching agent.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163824"/>
            <a:ext cx="11795760" cy="960120"/>
          </a:xfrm>
          <a:prstGeom prst="rect">
            <a:avLst/>
          </a:prstGeom>
          <a:solidFill>
            <a:srgbClr val="16213E"/>
          </a:solidFill>
          <a:ln w="25400">
            <a:solidFill>
              <a:srgbClr val="E58C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163824"/>
            <a:ext cx="1188720" cy="960120"/>
          </a:xfrm>
          <a:prstGeom prst="rect">
            <a:avLst/>
          </a:prstGeom>
          <a:solidFill>
            <a:srgbClr val="E58C1A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3438144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</a:rPr>
              <a:t>Siemens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218688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DTC format adapter
DTC semantic property schema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21868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</a:rPr>
              <a:t>Adopts the NVIDIA reference architecture. Adds DTC-specific skill on top. Launch partner for EA (TBD).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4242816"/>
            <a:ext cx="11795760" cy="960120"/>
          </a:xfrm>
          <a:prstGeom prst="rect">
            <a:avLst/>
          </a:prstGeom>
          <a:solidFill>
            <a:srgbClr val="16213E"/>
          </a:solidFill>
          <a:ln w="2540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" y="4242816"/>
            <a:ext cx="1188720" cy="960120"/>
          </a:xfrm>
          <a:prstGeom prst="rect">
            <a:avLst/>
          </a:prstGeom>
          <a:solidFill>
            <a:srgbClr val="008AC8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4517136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</a:rPr>
              <a:t>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297679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open3d — ingest, filter, segment, reconstruct
pye57 — E57 native read
scikit-learn — DBSCAN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297679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</a:rPr>
              <a:t>Commodity processing. No lock-in. Replace any piece if a better library ships.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5321807"/>
            <a:ext cx="11795760" cy="960120"/>
          </a:xfrm>
          <a:prstGeom prst="rect">
            <a:avLst/>
          </a:prstGeom>
          <a:solidFill>
            <a:srgbClr val="16213E"/>
          </a:solidFill>
          <a:ln w="254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2880" y="5321807"/>
            <a:ext cx="1188720" cy="960120"/>
          </a:xfrm>
          <a:prstGeom prst="rect">
            <a:avLst/>
          </a:prstGeom>
          <a:solidFill>
            <a:srgbClr val="F5C518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" y="5596127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</a:rPr>
              <a:t>Glue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376671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Skill config schemas (JSON/YAML)
Skill registry + runner
Run report format
Reference agent implementation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376671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</a:rPr>
              <a:t>Minimal glue maintained by NVIDIA. Visible, readable, meant to be forked. Not a black box.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6B9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Open Questions — Resolve Before Engineering Spec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21207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Four decisions that gate detailed requirements.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05840"/>
            <a:ext cx="11795760" cy="1143000"/>
          </a:xfrm>
          <a:prstGeom prst="rect">
            <a:avLst/>
          </a:prstGeom>
          <a:solidFill>
            <a:srgbClr val="16213E"/>
          </a:solidFill>
          <a:ln w="2540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05840"/>
            <a:ext cx="530352" cy="1143000"/>
          </a:xfrm>
          <a:prstGeom prst="rect">
            <a:avLst/>
          </a:prstGeom>
          <a:solidFill>
            <a:srgbClr val="E54B4B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325880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06984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4B4B"/>
                </a:solidFill>
              </a:rPr>
              <a:t>Physna integration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481328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Python library or REST API?  Affects NVCF wrapping pattern and latency. Need answer before skill interface is finalized.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2304288"/>
            <a:ext cx="11795760" cy="1143000"/>
          </a:xfrm>
          <a:prstGeom prst="rect">
            <a:avLst/>
          </a:prstGeom>
          <a:solidFill>
            <a:srgbClr val="16213E"/>
          </a:solidFill>
          <a:ln w="2540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2304288"/>
            <a:ext cx="530352" cy="1143000"/>
          </a:xfrm>
          <a:prstGeom prst="rect">
            <a:avLst/>
          </a:prstGeom>
          <a:solidFill>
            <a:srgbClr val="008AC8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2624328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68296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AC8"/>
                </a:solidFill>
              </a:rPr>
              <a:t>Segmentation fidelity at 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79776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Is open3d Euclidean cluster sufficient for factory floor objects at EA, or do we need to scope a DL segmentation model post-EA?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602736"/>
            <a:ext cx="11795760" cy="1143000"/>
          </a:xfrm>
          <a:prstGeom prst="rect">
            <a:avLst/>
          </a:prstGeom>
          <a:solidFill>
            <a:srgbClr val="16213E"/>
          </a:solidFill>
          <a:ln w="25400">
            <a:solidFill>
              <a:srgbClr val="E58C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602736"/>
            <a:ext cx="530352" cy="1143000"/>
          </a:xfrm>
          <a:prstGeom prst="rect">
            <a:avLst/>
          </a:prstGeom>
          <a:solidFill>
            <a:srgbClr val="E58C1A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3922776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666744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8C1A"/>
                </a:solidFill>
              </a:rPr>
              <a:t>Siemens adapter EA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78224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Is the DTC export adapter in-scope for EA, or is raw USD sufficient?  Determines whether Siemens is a launch partner or follow-on.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4901183"/>
            <a:ext cx="11795760" cy="1143000"/>
          </a:xfrm>
          <a:prstGeom prst="rect">
            <a:avLst/>
          </a:prstGeom>
          <a:solidFill>
            <a:srgbClr val="16213E"/>
          </a:solidFill>
          <a:ln w="254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" y="4901183"/>
            <a:ext cx="530352" cy="1143000"/>
          </a:xfrm>
          <a:prstGeom prst="rect">
            <a:avLst/>
          </a:prstGeom>
          <a:solidFill>
            <a:srgbClr val="F5C518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5221223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965192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518"/>
                </a:solidFill>
              </a:rPr>
              <a:t>Hackathon repo reuse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76671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Which components from the 2 hackathon repos translate directly to skills?  Share repos to map existing work before building from scratch.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