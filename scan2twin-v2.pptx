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A1A2E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76B900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645920"/>
            <a:ext cx="10972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400" b="1">
                <a:solidFill>
                  <a:srgbClr val="FFFFFF"/>
                </a:solidFill>
              </a:rPr>
              <a:t>Scan2Twin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265176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0">
                <a:solidFill>
                  <a:srgbClr val="76B900"/>
                </a:solidFill>
              </a:rPr>
              <a:t>Reference Architecture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338328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>
                <a:solidFill>
                  <a:srgbClr val="AAAAAA"/>
                </a:solidFill>
              </a:rPr>
              <a:t>Point Cloud  →  SimReady USD Digital Twin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594360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AAAAAA"/>
                </a:solidFill>
              </a:rPr>
              <a:t>v0.1 Draft  |  Internal — Engineering &amp; Agent Requirements</a:t>
            </a:r>
          </a:p>
        </p:txBody>
      </p:sp>
      <p:sp>
        <p:nvSpPr>
          <p:cNvPr id="8" name="Rectangle 7"/>
          <p:cNvSpPr/>
          <p:nvPr/>
        </p:nvSpPr>
        <p:spPr>
          <a:xfrm>
            <a:off x="1371600" y="5120640"/>
            <a:ext cx="1645920" cy="320040"/>
          </a:xfrm>
          <a:prstGeom prst="rect">
            <a:avLst/>
          </a:prstGeom>
          <a:solidFill>
            <a:srgbClr val="16213E"/>
          </a:solidFill>
          <a:ln w="25400">
            <a:solidFill>
              <a:srgbClr val="76B9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417320" y="5138928"/>
            <a:ext cx="1554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76B900"/>
                </a:solidFill>
              </a:rPr>
              <a:t>🟢  NVIDIA</a:t>
            </a:r>
          </a:p>
        </p:txBody>
      </p:sp>
      <p:sp>
        <p:nvSpPr>
          <p:cNvPr id="10" name="Rectangle 9"/>
          <p:cNvSpPr/>
          <p:nvPr/>
        </p:nvSpPr>
        <p:spPr>
          <a:xfrm>
            <a:off x="3291840" y="5120640"/>
            <a:ext cx="1645920" cy="320040"/>
          </a:xfrm>
          <a:prstGeom prst="rect">
            <a:avLst/>
          </a:prstGeom>
          <a:solidFill>
            <a:srgbClr val="16213E"/>
          </a:solidFill>
          <a:ln w="25400">
            <a:solidFill>
              <a:srgbClr val="E54B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337560" y="5138928"/>
            <a:ext cx="1554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E54B4B"/>
                </a:solidFill>
              </a:rPr>
              <a:t>🔴  Physna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212080" y="5120640"/>
            <a:ext cx="1645920" cy="320040"/>
          </a:xfrm>
          <a:prstGeom prst="rect">
            <a:avLst/>
          </a:prstGeom>
          <a:solidFill>
            <a:srgbClr val="16213E"/>
          </a:solidFill>
          <a:ln w="25400">
            <a:solidFill>
              <a:srgbClr val="E58C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257800" y="5138928"/>
            <a:ext cx="1554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E58C1A"/>
                </a:solidFill>
              </a:rPr>
              <a:t>🟠  Siemens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132320" y="5120640"/>
            <a:ext cx="1645920" cy="320040"/>
          </a:xfrm>
          <a:prstGeom prst="rect">
            <a:avLst/>
          </a:prstGeom>
          <a:solidFill>
            <a:srgbClr val="16213E"/>
          </a:solidFill>
          <a:ln w="25400">
            <a:solidFill>
              <a:srgbClr val="008A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178040" y="5138928"/>
            <a:ext cx="1554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008AC8"/>
                </a:solidFill>
              </a:rPr>
              <a:t>🔵  OSS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9052560" y="5120640"/>
            <a:ext cx="1645920" cy="320040"/>
          </a:xfrm>
          <a:prstGeom prst="rect">
            <a:avLst/>
          </a:prstGeom>
          <a:solidFill>
            <a:srgbClr val="16213E"/>
          </a:solidFill>
          <a:ln w="25400">
            <a:solidFill>
              <a:srgbClr val="F5C5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098280" y="5138928"/>
            <a:ext cx="1554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F5C518"/>
                </a:solidFill>
              </a:rPr>
              <a:t>🟡  Blueprint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A1A2E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76B900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3716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FFFFFF"/>
                </a:solidFill>
              </a:rPr>
              <a:t>Pipeline Overview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54864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AAAAAA"/>
                </a:solidFill>
              </a:rPr>
              <a:t>6 modular stages — each agent-callable, each component swappable</a:t>
            </a:r>
          </a:p>
        </p:txBody>
      </p:sp>
      <p:sp>
        <p:nvSpPr>
          <p:cNvPr id="6" name="Rectangle 5"/>
          <p:cNvSpPr/>
          <p:nvPr/>
        </p:nvSpPr>
        <p:spPr>
          <a:xfrm>
            <a:off x="182880" y="1097280"/>
            <a:ext cx="1463040" cy="914400"/>
          </a:xfrm>
          <a:prstGeom prst="rect">
            <a:avLst/>
          </a:prstGeom>
          <a:solidFill>
            <a:srgbClr val="16213E"/>
          </a:solidFill>
          <a:ln w="12700">
            <a:solidFill>
              <a:srgbClr val="AAAA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82880" y="1143000"/>
            <a:ext cx="14630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AAAAAA"/>
                </a:solidFill>
              </a:rPr>
              <a:t>RAW SCAN
E57 / LAS
PLY / XYZ</a:t>
            </a:r>
          </a:p>
        </p:txBody>
      </p:sp>
      <p:sp>
        <p:nvSpPr>
          <p:cNvPr id="8" name="Rectangle 7"/>
          <p:cNvSpPr/>
          <p:nvPr/>
        </p:nvSpPr>
        <p:spPr>
          <a:xfrm>
            <a:off x="1920240" y="960120"/>
            <a:ext cx="1417320" cy="1188720"/>
          </a:xfrm>
          <a:prstGeom prst="rect">
            <a:avLst/>
          </a:prstGeom>
          <a:solidFill>
            <a:srgbClr val="16213E"/>
          </a:solidFill>
          <a:ln w="31750">
            <a:solidFill>
              <a:srgbClr val="76B9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965960" y="1005840"/>
            <a:ext cx="13258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>
                <a:solidFill>
                  <a:srgbClr val="76B900"/>
                </a:solidFill>
              </a:rPr>
              <a:t>1
Ingest &amp;
Preprocess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337560" y="1371600"/>
            <a:ext cx="274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AAAAAA"/>
                </a:solidFill>
              </a:rPr>
              <a:t>→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611880" y="960120"/>
            <a:ext cx="1417320" cy="1188720"/>
          </a:xfrm>
          <a:prstGeom prst="rect">
            <a:avLst/>
          </a:prstGeom>
          <a:solidFill>
            <a:srgbClr val="16213E"/>
          </a:solidFill>
          <a:ln w="31750">
            <a:solidFill>
              <a:srgbClr val="008A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657600" y="1005840"/>
            <a:ext cx="13258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>
                <a:solidFill>
                  <a:srgbClr val="008AC8"/>
                </a:solidFill>
              </a:rPr>
              <a:t>2
Segmen-
tation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29200" y="1371600"/>
            <a:ext cx="274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AAAAAA"/>
                </a:solidFill>
              </a:rPr>
              <a:t>→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303520" y="960120"/>
            <a:ext cx="1417320" cy="1188720"/>
          </a:xfrm>
          <a:prstGeom prst="rect">
            <a:avLst/>
          </a:prstGeom>
          <a:solidFill>
            <a:srgbClr val="16213E"/>
          </a:solidFill>
          <a:ln w="31750">
            <a:solidFill>
              <a:srgbClr val="E54B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349240" y="1005840"/>
            <a:ext cx="13258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>
                <a:solidFill>
                  <a:srgbClr val="E54B4B"/>
                </a:solidFill>
              </a:rPr>
              <a:t>3
Object
Recognition
&amp; CAD Match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720840" y="1371600"/>
            <a:ext cx="274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AAAAAA"/>
                </a:solidFill>
              </a:rPr>
              <a:t>→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995160" y="960120"/>
            <a:ext cx="1417320" cy="1188720"/>
          </a:xfrm>
          <a:prstGeom prst="rect">
            <a:avLst/>
          </a:prstGeom>
          <a:solidFill>
            <a:srgbClr val="16213E"/>
          </a:solidFill>
          <a:ln w="31750">
            <a:solidFill>
              <a:srgbClr val="008A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040880" y="1005840"/>
            <a:ext cx="13258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>
                <a:solidFill>
                  <a:srgbClr val="008AC8"/>
                </a:solidFill>
              </a:rPr>
              <a:t>4
Geometry
Recon-
struction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412480" y="1371600"/>
            <a:ext cx="274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AAAAAA"/>
                </a:solidFill>
              </a:rPr>
              <a:t>→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686800" y="960120"/>
            <a:ext cx="1417320" cy="1188720"/>
          </a:xfrm>
          <a:prstGeom prst="rect">
            <a:avLst/>
          </a:prstGeom>
          <a:solidFill>
            <a:srgbClr val="16213E"/>
          </a:solidFill>
          <a:ln w="31750">
            <a:solidFill>
              <a:srgbClr val="76B9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732520" y="1005840"/>
            <a:ext cx="13258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>
                <a:solidFill>
                  <a:srgbClr val="76B900"/>
                </a:solidFill>
              </a:rPr>
              <a:t>5
Semantic
Enrichment
&amp; Materials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104120" y="1371600"/>
            <a:ext cx="274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AAAAAA"/>
                </a:solidFill>
              </a:rPr>
              <a:t>→</a:t>
            </a:r>
          </a:p>
        </p:txBody>
      </p:sp>
      <p:sp>
        <p:nvSpPr>
          <p:cNvPr id="23" name="Rectangle 22"/>
          <p:cNvSpPr/>
          <p:nvPr/>
        </p:nvSpPr>
        <p:spPr>
          <a:xfrm>
            <a:off x="10378440" y="960120"/>
            <a:ext cx="1417320" cy="1188720"/>
          </a:xfrm>
          <a:prstGeom prst="rect">
            <a:avLst/>
          </a:prstGeom>
          <a:solidFill>
            <a:srgbClr val="16213E"/>
          </a:solidFill>
          <a:ln w="31750">
            <a:solidFill>
              <a:srgbClr val="76B9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0424160" y="1005840"/>
            <a:ext cx="13258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>
                <a:solidFill>
                  <a:srgbClr val="76B900"/>
                </a:solidFill>
              </a:rPr>
              <a:t>6
SimReady
USD
Assembly</a:t>
            </a:r>
          </a:p>
        </p:txBody>
      </p:sp>
      <p:sp>
        <p:nvSpPr>
          <p:cNvPr id="25" name="Rectangle 24"/>
          <p:cNvSpPr/>
          <p:nvPr/>
        </p:nvSpPr>
        <p:spPr>
          <a:xfrm>
            <a:off x="10451592" y="1097280"/>
            <a:ext cx="1554480" cy="914400"/>
          </a:xfrm>
          <a:prstGeom prst="rect">
            <a:avLst/>
          </a:prstGeom>
          <a:solidFill>
            <a:srgbClr val="16213E"/>
          </a:solidFill>
          <a:ln w="25400">
            <a:solidFill>
              <a:srgbClr val="76B9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0451592" y="1143000"/>
            <a:ext cx="15544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>
                <a:solidFill>
                  <a:srgbClr val="76B900"/>
                </a:solidFill>
              </a:rPr>
              <a:t>SimReady
USD DT</a:t>
            </a:r>
          </a:p>
        </p:txBody>
      </p:sp>
      <p:sp>
        <p:nvSpPr>
          <p:cNvPr id="27" name="Rectangle 26"/>
          <p:cNvSpPr/>
          <p:nvPr/>
        </p:nvSpPr>
        <p:spPr>
          <a:xfrm>
            <a:off x="182880" y="2423160"/>
            <a:ext cx="11887200" cy="502920"/>
          </a:xfrm>
          <a:prstGeom prst="rect">
            <a:avLst/>
          </a:prstGeom>
          <a:solidFill>
            <a:srgbClr val="0D2B45"/>
          </a:solidFill>
          <a:ln w="19050">
            <a:solidFill>
              <a:srgbClr val="76B9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20040" y="2487168"/>
            <a:ext cx="11612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76B900"/>
                </a:solidFill>
              </a:rPr>
              <a:t>🤖  PLANNING AGENT  —  Reads pipeline state · Calls tool APIs · Swaps components via registry · Handles errors + retries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82880" y="3108960"/>
            <a:ext cx="1889759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>
                <a:solidFill>
                  <a:srgbClr val="AAAAAA"/>
                </a:solidFill>
              </a:rPr>
              <a:t>Stage 1</a:t>
            </a:r>
          </a:p>
        </p:txBody>
      </p:sp>
      <p:sp>
        <p:nvSpPr>
          <p:cNvPr id="30" name="Rectangle 29"/>
          <p:cNvSpPr/>
          <p:nvPr/>
        </p:nvSpPr>
        <p:spPr>
          <a:xfrm>
            <a:off x="228600" y="3364991"/>
            <a:ext cx="1798320" cy="384048"/>
          </a:xfrm>
          <a:prstGeom prst="rect">
            <a:avLst/>
          </a:prstGeom>
          <a:solidFill>
            <a:srgbClr val="16213E"/>
          </a:solidFill>
          <a:ln w="19050">
            <a:solidFill>
              <a:srgbClr val="76B9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246888" y="3383279"/>
            <a:ext cx="178003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0">
                <a:solidFill>
                  <a:srgbClr val="76B900"/>
                </a:solidFill>
              </a:rPr>
              <a:t>NVCF ingest endpoint</a:t>
            </a:r>
          </a:p>
        </p:txBody>
      </p:sp>
      <p:sp>
        <p:nvSpPr>
          <p:cNvPr id="32" name="Rectangle 31"/>
          <p:cNvSpPr/>
          <p:nvPr/>
        </p:nvSpPr>
        <p:spPr>
          <a:xfrm>
            <a:off x="228600" y="3803904"/>
            <a:ext cx="1798320" cy="384048"/>
          </a:xfrm>
          <a:prstGeom prst="rect">
            <a:avLst/>
          </a:prstGeom>
          <a:solidFill>
            <a:srgbClr val="16213E"/>
          </a:solidFill>
          <a:ln w="19050">
            <a:solidFill>
              <a:srgbClr val="008A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246888" y="3822191"/>
            <a:ext cx="178003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0">
                <a:solidFill>
                  <a:srgbClr val="008AC8"/>
                </a:solidFill>
              </a:rPr>
              <a:t>open3d reader + noise filter + voxel downsample</a:t>
            </a:r>
          </a:p>
        </p:txBody>
      </p:sp>
      <p:sp>
        <p:nvSpPr>
          <p:cNvPr id="34" name="Rectangle 33"/>
          <p:cNvSpPr/>
          <p:nvPr/>
        </p:nvSpPr>
        <p:spPr>
          <a:xfrm>
            <a:off x="228600" y="4242816"/>
            <a:ext cx="1798320" cy="384048"/>
          </a:xfrm>
          <a:prstGeom prst="rect">
            <a:avLst/>
          </a:prstGeom>
          <a:solidFill>
            <a:srgbClr val="16213E"/>
          </a:solidFill>
          <a:ln w="19050">
            <a:solidFill>
              <a:srgbClr val="F5C5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246888" y="4261104"/>
            <a:ext cx="178003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0">
                <a:solidFill>
                  <a:srgbClr val="F5C518"/>
                </a:solidFill>
              </a:rPr>
              <a:t>coord normalization sample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2164080" y="3108960"/>
            <a:ext cx="1889759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>
                <a:solidFill>
                  <a:srgbClr val="AAAAAA"/>
                </a:solidFill>
              </a:rPr>
              <a:t>Stage 2</a:t>
            </a:r>
          </a:p>
        </p:txBody>
      </p:sp>
      <p:sp>
        <p:nvSpPr>
          <p:cNvPr id="37" name="Rectangle 36"/>
          <p:cNvSpPr/>
          <p:nvPr/>
        </p:nvSpPr>
        <p:spPr>
          <a:xfrm>
            <a:off x="2209800" y="3364991"/>
            <a:ext cx="1798320" cy="384048"/>
          </a:xfrm>
          <a:prstGeom prst="rect">
            <a:avLst/>
          </a:prstGeom>
          <a:solidFill>
            <a:srgbClr val="16213E"/>
          </a:solidFill>
          <a:ln w="19050">
            <a:solidFill>
              <a:srgbClr val="008A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2228088" y="3383279"/>
            <a:ext cx="178003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0">
                <a:solidFill>
                  <a:srgbClr val="008AC8"/>
                </a:solidFill>
              </a:rPr>
              <a:t>Euclidean cluster segmentation (default)</a:t>
            </a:r>
          </a:p>
        </p:txBody>
      </p:sp>
      <p:sp>
        <p:nvSpPr>
          <p:cNvPr id="39" name="Rectangle 38"/>
          <p:cNvSpPr/>
          <p:nvPr/>
        </p:nvSpPr>
        <p:spPr>
          <a:xfrm>
            <a:off x="2209800" y="3803904"/>
            <a:ext cx="1798320" cy="384048"/>
          </a:xfrm>
          <a:prstGeom prst="rect">
            <a:avLst/>
          </a:prstGeom>
          <a:solidFill>
            <a:srgbClr val="16213E"/>
          </a:solidFill>
          <a:ln w="19050">
            <a:solidFill>
              <a:srgbClr val="008A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2228088" y="3822191"/>
            <a:ext cx="178003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0">
                <a:solidFill>
                  <a:srgbClr val="008AC8"/>
                </a:solidFill>
              </a:rPr>
              <a:t>DBSCAN (swappable via registry)</a:t>
            </a:r>
          </a:p>
        </p:txBody>
      </p:sp>
      <p:sp>
        <p:nvSpPr>
          <p:cNvPr id="41" name="Rectangle 40"/>
          <p:cNvSpPr/>
          <p:nvPr/>
        </p:nvSpPr>
        <p:spPr>
          <a:xfrm>
            <a:off x="2209800" y="4242816"/>
            <a:ext cx="1798320" cy="384048"/>
          </a:xfrm>
          <a:prstGeom prst="rect">
            <a:avLst/>
          </a:prstGeom>
          <a:solidFill>
            <a:srgbClr val="16213E"/>
          </a:solidFill>
          <a:ln w="19050">
            <a:solidFill>
              <a:srgbClr val="F5C5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2228088" y="4261104"/>
            <a:ext cx="178003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0">
                <a:solidFill>
                  <a:srgbClr val="F5C518"/>
                </a:solidFill>
              </a:rPr>
              <a:t>algorithm registry + runner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4145280" y="3108960"/>
            <a:ext cx="1889759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>
                <a:solidFill>
                  <a:srgbClr val="AAAAAA"/>
                </a:solidFill>
              </a:rPr>
              <a:t>Stage 3</a:t>
            </a:r>
          </a:p>
        </p:txBody>
      </p:sp>
      <p:sp>
        <p:nvSpPr>
          <p:cNvPr id="44" name="Rectangle 43"/>
          <p:cNvSpPr/>
          <p:nvPr/>
        </p:nvSpPr>
        <p:spPr>
          <a:xfrm>
            <a:off x="4190999" y="3364991"/>
            <a:ext cx="1798320" cy="384048"/>
          </a:xfrm>
          <a:prstGeom prst="rect">
            <a:avLst/>
          </a:prstGeom>
          <a:solidFill>
            <a:srgbClr val="16213E"/>
          </a:solidFill>
          <a:ln w="19050">
            <a:solidFill>
              <a:srgbClr val="E54B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4209288" y="3383279"/>
            <a:ext cx="178003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0">
                <a:solidFill>
                  <a:srgbClr val="E54B4B"/>
                </a:solidFill>
              </a:rPr>
              <a:t>Physna: geometric search / CAD matching</a:t>
            </a:r>
          </a:p>
        </p:txBody>
      </p:sp>
      <p:sp>
        <p:nvSpPr>
          <p:cNvPr id="46" name="Rectangle 45"/>
          <p:cNvSpPr/>
          <p:nvPr/>
        </p:nvSpPr>
        <p:spPr>
          <a:xfrm>
            <a:off x="4190999" y="3803904"/>
            <a:ext cx="1798320" cy="384048"/>
          </a:xfrm>
          <a:prstGeom prst="rect">
            <a:avLst/>
          </a:prstGeom>
          <a:solidFill>
            <a:srgbClr val="16213E"/>
          </a:solidFill>
          <a:ln w="19050">
            <a:solidFill>
              <a:srgbClr val="76B9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4209288" y="3822191"/>
            <a:ext cx="178003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0">
                <a:solidFill>
                  <a:srgbClr val="76B900"/>
                </a:solidFill>
              </a:rPr>
              <a:t>NVCF inference endpoint wrapper</a:t>
            </a:r>
          </a:p>
        </p:txBody>
      </p:sp>
      <p:sp>
        <p:nvSpPr>
          <p:cNvPr id="48" name="Rectangle 47"/>
          <p:cNvSpPr/>
          <p:nvPr/>
        </p:nvSpPr>
        <p:spPr>
          <a:xfrm>
            <a:off x="4190999" y="4242816"/>
            <a:ext cx="1798320" cy="384048"/>
          </a:xfrm>
          <a:prstGeom prst="rect">
            <a:avLst/>
          </a:prstGeom>
          <a:solidFill>
            <a:srgbClr val="16213E"/>
          </a:solidFill>
          <a:ln w="19050">
            <a:solidFill>
              <a:srgbClr val="F5C5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4209288" y="4261104"/>
            <a:ext cx="178003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0">
                <a:solidFill>
                  <a:srgbClr val="F5C518"/>
                </a:solidFill>
              </a:rPr>
              <a:t>match result schema (JSON)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6126480" y="3108960"/>
            <a:ext cx="1889759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>
                <a:solidFill>
                  <a:srgbClr val="AAAAAA"/>
                </a:solidFill>
              </a:rPr>
              <a:t>Stage 4</a:t>
            </a:r>
          </a:p>
        </p:txBody>
      </p:sp>
      <p:sp>
        <p:nvSpPr>
          <p:cNvPr id="51" name="Rectangle 50"/>
          <p:cNvSpPr/>
          <p:nvPr/>
        </p:nvSpPr>
        <p:spPr>
          <a:xfrm>
            <a:off x="6172200" y="3364991"/>
            <a:ext cx="1798320" cy="384048"/>
          </a:xfrm>
          <a:prstGeom prst="rect">
            <a:avLst/>
          </a:prstGeom>
          <a:solidFill>
            <a:srgbClr val="16213E"/>
          </a:solidFill>
          <a:ln w="19050">
            <a:solidFill>
              <a:srgbClr val="008A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6190488" y="3383279"/>
            <a:ext cx="178003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0">
                <a:solidFill>
                  <a:srgbClr val="008AC8"/>
                </a:solidFill>
              </a:rPr>
              <a:t>open3d: Poisson/BPA mesh reconstruction</a:t>
            </a:r>
          </a:p>
        </p:txBody>
      </p:sp>
      <p:sp>
        <p:nvSpPr>
          <p:cNvPr id="53" name="Rectangle 52"/>
          <p:cNvSpPr/>
          <p:nvPr/>
        </p:nvSpPr>
        <p:spPr>
          <a:xfrm>
            <a:off x="6172200" y="3803904"/>
            <a:ext cx="1798320" cy="384048"/>
          </a:xfrm>
          <a:prstGeom prst="rect">
            <a:avLst/>
          </a:prstGeom>
          <a:solidFill>
            <a:srgbClr val="16213E"/>
          </a:solidFill>
          <a:ln w="19050">
            <a:solidFill>
              <a:srgbClr val="E54B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6190488" y="3822191"/>
            <a:ext cx="178003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0">
                <a:solidFill>
                  <a:srgbClr val="E54B4B"/>
                </a:solidFill>
              </a:rPr>
              <a:t>Physna: CAD substitution on high-confidence match</a:t>
            </a:r>
          </a:p>
        </p:txBody>
      </p:sp>
      <p:sp>
        <p:nvSpPr>
          <p:cNvPr id="55" name="Rectangle 54"/>
          <p:cNvSpPr/>
          <p:nvPr/>
        </p:nvSpPr>
        <p:spPr>
          <a:xfrm>
            <a:off x="6172200" y="4242816"/>
            <a:ext cx="1798320" cy="384048"/>
          </a:xfrm>
          <a:prstGeom prst="rect">
            <a:avLst/>
          </a:prstGeom>
          <a:solidFill>
            <a:srgbClr val="16213E"/>
          </a:solidFill>
          <a:ln w="19050">
            <a:solidFill>
              <a:srgbClr val="76B9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6190488" y="4261104"/>
            <a:ext cx="178003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0">
                <a:solidFill>
                  <a:srgbClr val="76B900"/>
                </a:solidFill>
              </a:rPr>
              <a:t>OpenUSD SDK: prim assembly</a:t>
            </a:r>
          </a:p>
        </p:txBody>
      </p:sp>
      <p:sp>
        <p:nvSpPr>
          <p:cNvPr id="57" name="Rectangle 56"/>
          <p:cNvSpPr/>
          <p:nvPr/>
        </p:nvSpPr>
        <p:spPr>
          <a:xfrm>
            <a:off x="6172200" y="4681728"/>
            <a:ext cx="1798320" cy="384048"/>
          </a:xfrm>
          <a:prstGeom prst="rect">
            <a:avLst/>
          </a:prstGeom>
          <a:solidFill>
            <a:srgbClr val="16213E"/>
          </a:solidFill>
          <a:ln w="19050">
            <a:solidFill>
              <a:srgbClr val="F5C5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6190488" y="4700016"/>
            <a:ext cx="178003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0">
                <a:solidFill>
                  <a:srgbClr val="F5C518"/>
                </a:solidFill>
              </a:rPr>
              <a:t>geometry QA + watertight check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8107679" y="3108960"/>
            <a:ext cx="1889759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>
                <a:solidFill>
                  <a:srgbClr val="AAAAAA"/>
                </a:solidFill>
              </a:rPr>
              <a:t>Stage 5</a:t>
            </a:r>
          </a:p>
        </p:txBody>
      </p:sp>
      <p:sp>
        <p:nvSpPr>
          <p:cNvPr id="60" name="Rectangle 59"/>
          <p:cNvSpPr/>
          <p:nvPr/>
        </p:nvSpPr>
        <p:spPr>
          <a:xfrm>
            <a:off x="8153399" y="3364991"/>
            <a:ext cx="1798320" cy="384048"/>
          </a:xfrm>
          <a:prstGeom prst="rect">
            <a:avLst/>
          </a:prstGeom>
          <a:solidFill>
            <a:srgbClr val="16213E"/>
          </a:solidFill>
          <a:ln w="19050">
            <a:solidFill>
              <a:srgbClr val="76B9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8171687" y="3383279"/>
            <a:ext cx="178003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0">
                <a:solidFill>
                  <a:srgbClr val="76B900"/>
                </a:solidFill>
              </a:rPr>
              <a:t>AI Material Agent (NVCF)</a:t>
            </a:r>
          </a:p>
        </p:txBody>
      </p:sp>
      <p:sp>
        <p:nvSpPr>
          <p:cNvPr id="62" name="Rectangle 61"/>
          <p:cNvSpPr/>
          <p:nvPr/>
        </p:nvSpPr>
        <p:spPr>
          <a:xfrm>
            <a:off x="8153399" y="3803904"/>
            <a:ext cx="1798320" cy="384048"/>
          </a:xfrm>
          <a:prstGeom prst="rect">
            <a:avLst/>
          </a:prstGeom>
          <a:solidFill>
            <a:srgbClr val="16213E"/>
          </a:solidFill>
          <a:ln w="19050">
            <a:solidFill>
              <a:srgbClr val="76B9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8171687" y="3822191"/>
            <a:ext cx="178003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0">
                <a:solidFill>
                  <a:srgbClr val="76B900"/>
                </a:solidFill>
              </a:rPr>
              <a:t>MDL material library</a:t>
            </a:r>
          </a:p>
        </p:txBody>
      </p:sp>
      <p:sp>
        <p:nvSpPr>
          <p:cNvPr id="64" name="Rectangle 63"/>
          <p:cNvSpPr/>
          <p:nvPr/>
        </p:nvSpPr>
        <p:spPr>
          <a:xfrm>
            <a:off x="8153399" y="4242816"/>
            <a:ext cx="1798320" cy="384048"/>
          </a:xfrm>
          <a:prstGeom prst="rect">
            <a:avLst/>
          </a:prstGeom>
          <a:solidFill>
            <a:srgbClr val="16213E"/>
          </a:solidFill>
          <a:ln w="19050">
            <a:solidFill>
              <a:srgbClr val="E58C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8171687" y="4261104"/>
            <a:ext cx="178003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0">
                <a:solidFill>
                  <a:srgbClr val="E58C1A"/>
                </a:solidFill>
              </a:rPr>
              <a:t>Siemens DTC adapter</a:t>
            </a:r>
          </a:p>
        </p:txBody>
      </p:sp>
      <p:sp>
        <p:nvSpPr>
          <p:cNvPr id="66" name="Rectangle 65"/>
          <p:cNvSpPr/>
          <p:nvPr/>
        </p:nvSpPr>
        <p:spPr>
          <a:xfrm>
            <a:off x="8153399" y="4681728"/>
            <a:ext cx="1798320" cy="384048"/>
          </a:xfrm>
          <a:prstGeom prst="rect">
            <a:avLst/>
          </a:prstGeom>
          <a:solidFill>
            <a:srgbClr val="16213E"/>
          </a:solidFill>
          <a:ln w="19050">
            <a:solidFill>
              <a:srgbClr val="F5C5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8171687" y="4700016"/>
            <a:ext cx="178003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0">
                <a:solidFill>
                  <a:srgbClr val="F5C518"/>
                </a:solidFill>
              </a:rPr>
              <a:t>physics property defaults sample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10088879" y="3108960"/>
            <a:ext cx="1889759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>
                <a:solidFill>
                  <a:srgbClr val="AAAAAA"/>
                </a:solidFill>
              </a:rPr>
              <a:t>Stage 6</a:t>
            </a:r>
          </a:p>
        </p:txBody>
      </p:sp>
      <p:sp>
        <p:nvSpPr>
          <p:cNvPr id="69" name="Rectangle 68"/>
          <p:cNvSpPr/>
          <p:nvPr/>
        </p:nvSpPr>
        <p:spPr>
          <a:xfrm>
            <a:off x="10134599" y="3364991"/>
            <a:ext cx="1798320" cy="384048"/>
          </a:xfrm>
          <a:prstGeom prst="rect">
            <a:avLst/>
          </a:prstGeom>
          <a:solidFill>
            <a:srgbClr val="16213E"/>
          </a:solidFill>
          <a:ln w="19050">
            <a:solidFill>
              <a:srgbClr val="76B9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10152887" y="3383279"/>
            <a:ext cx="178003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0">
                <a:solidFill>
                  <a:srgbClr val="76B900"/>
                </a:solidFill>
              </a:rPr>
              <a:t>OpenUSD SDK: stage assembly</a:t>
            </a:r>
          </a:p>
        </p:txBody>
      </p:sp>
      <p:sp>
        <p:nvSpPr>
          <p:cNvPr id="71" name="Rectangle 70"/>
          <p:cNvSpPr/>
          <p:nvPr/>
        </p:nvSpPr>
        <p:spPr>
          <a:xfrm>
            <a:off x="10134599" y="3803904"/>
            <a:ext cx="1798320" cy="384048"/>
          </a:xfrm>
          <a:prstGeom prst="rect">
            <a:avLst/>
          </a:prstGeom>
          <a:solidFill>
            <a:srgbClr val="16213E"/>
          </a:solidFill>
          <a:ln w="19050">
            <a:solidFill>
              <a:srgbClr val="76B9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10152887" y="3822191"/>
            <a:ext cx="178003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0">
                <a:solidFill>
                  <a:srgbClr val="76B900"/>
                </a:solidFill>
              </a:rPr>
              <a:t>SimReady validator (standalone)</a:t>
            </a:r>
          </a:p>
        </p:txBody>
      </p:sp>
      <p:sp>
        <p:nvSpPr>
          <p:cNvPr id="73" name="Rectangle 72"/>
          <p:cNvSpPr/>
          <p:nvPr/>
        </p:nvSpPr>
        <p:spPr>
          <a:xfrm>
            <a:off x="10134599" y="4242816"/>
            <a:ext cx="1798320" cy="384048"/>
          </a:xfrm>
          <a:prstGeom prst="rect">
            <a:avLst/>
          </a:prstGeom>
          <a:solidFill>
            <a:srgbClr val="16213E"/>
          </a:solidFill>
          <a:ln w="19050">
            <a:solidFill>
              <a:srgbClr val="76B9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TextBox 73"/>
          <p:cNvSpPr txBox="1"/>
          <p:nvPr/>
        </p:nvSpPr>
        <p:spPr>
          <a:xfrm>
            <a:off x="10152887" y="4261104"/>
            <a:ext cx="178003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0">
                <a:solidFill>
                  <a:srgbClr val="76B900"/>
                </a:solidFill>
              </a:rPr>
              <a:t>ovRTX render validation</a:t>
            </a:r>
          </a:p>
        </p:txBody>
      </p:sp>
      <p:sp>
        <p:nvSpPr>
          <p:cNvPr id="75" name="Rectangle 74"/>
          <p:cNvSpPr/>
          <p:nvPr/>
        </p:nvSpPr>
        <p:spPr>
          <a:xfrm>
            <a:off x="10134599" y="4681728"/>
            <a:ext cx="1798320" cy="384048"/>
          </a:xfrm>
          <a:prstGeom prst="rect">
            <a:avLst/>
          </a:prstGeom>
          <a:solidFill>
            <a:srgbClr val="16213E"/>
          </a:solidFill>
          <a:ln w="19050">
            <a:solidFill>
              <a:srgbClr val="E58C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TextBox 75"/>
          <p:cNvSpPr txBox="1"/>
          <p:nvPr/>
        </p:nvSpPr>
        <p:spPr>
          <a:xfrm>
            <a:off x="10152887" y="4700016"/>
            <a:ext cx="178003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0">
                <a:solidFill>
                  <a:srgbClr val="E58C1A"/>
                </a:solidFill>
              </a:rPr>
              <a:t>Siemens DTC export adapter</a:t>
            </a:r>
          </a:p>
        </p:txBody>
      </p:sp>
      <p:sp>
        <p:nvSpPr>
          <p:cNvPr id="77" name="Rectangle 76"/>
          <p:cNvSpPr/>
          <p:nvPr/>
        </p:nvSpPr>
        <p:spPr>
          <a:xfrm>
            <a:off x="10134599" y="5120640"/>
            <a:ext cx="1798320" cy="384048"/>
          </a:xfrm>
          <a:prstGeom prst="rect">
            <a:avLst/>
          </a:prstGeom>
          <a:solidFill>
            <a:srgbClr val="16213E"/>
          </a:solidFill>
          <a:ln w="19050">
            <a:solidFill>
              <a:srgbClr val="F5C5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TextBox 77"/>
          <p:cNvSpPr txBox="1"/>
          <p:nvPr/>
        </p:nvSpPr>
        <p:spPr>
          <a:xfrm>
            <a:off x="10152887" y="5138928"/>
            <a:ext cx="178003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0">
                <a:solidFill>
                  <a:srgbClr val="F5C518"/>
                </a:solidFill>
              </a:rPr>
              <a:t>USD output writer sample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182880" y="6400800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AAAAAA"/>
                </a:solidFill>
              </a:rPr>
              <a:t>Legend:</a:t>
            </a:r>
          </a:p>
        </p:txBody>
      </p:sp>
      <p:sp>
        <p:nvSpPr>
          <p:cNvPr id="80" name="Rectangle 79"/>
          <p:cNvSpPr/>
          <p:nvPr/>
        </p:nvSpPr>
        <p:spPr>
          <a:xfrm>
            <a:off x="914400" y="6400800"/>
            <a:ext cx="1554480" cy="274320"/>
          </a:xfrm>
          <a:prstGeom prst="rect">
            <a:avLst/>
          </a:prstGeom>
          <a:solidFill>
            <a:srgbClr val="16213E"/>
          </a:solidFill>
          <a:ln w="19050">
            <a:solidFill>
              <a:srgbClr val="76B9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TextBox 80"/>
          <p:cNvSpPr txBox="1"/>
          <p:nvPr/>
        </p:nvSpPr>
        <p:spPr>
          <a:xfrm>
            <a:off x="960120" y="6419088"/>
            <a:ext cx="14630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>
                <a:solidFill>
                  <a:srgbClr val="76B900"/>
                </a:solidFill>
              </a:rPr>
              <a:t>🟢  NVIDIA</a:t>
            </a:r>
          </a:p>
        </p:txBody>
      </p:sp>
      <p:sp>
        <p:nvSpPr>
          <p:cNvPr id="82" name="Rectangle 81"/>
          <p:cNvSpPr/>
          <p:nvPr/>
        </p:nvSpPr>
        <p:spPr>
          <a:xfrm>
            <a:off x="2743200" y="6400800"/>
            <a:ext cx="1554480" cy="274320"/>
          </a:xfrm>
          <a:prstGeom prst="rect">
            <a:avLst/>
          </a:prstGeom>
          <a:solidFill>
            <a:srgbClr val="16213E"/>
          </a:solidFill>
          <a:ln w="19050">
            <a:solidFill>
              <a:srgbClr val="E54B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TextBox 82"/>
          <p:cNvSpPr txBox="1"/>
          <p:nvPr/>
        </p:nvSpPr>
        <p:spPr>
          <a:xfrm>
            <a:off x="2788920" y="6419088"/>
            <a:ext cx="14630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>
                <a:solidFill>
                  <a:srgbClr val="E54B4B"/>
                </a:solidFill>
              </a:rPr>
              <a:t>🔴  Physna</a:t>
            </a:r>
          </a:p>
        </p:txBody>
      </p:sp>
      <p:sp>
        <p:nvSpPr>
          <p:cNvPr id="84" name="Rectangle 83"/>
          <p:cNvSpPr/>
          <p:nvPr/>
        </p:nvSpPr>
        <p:spPr>
          <a:xfrm>
            <a:off x="4572000" y="6400800"/>
            <a:ext cx="1554480" cy="274320"/>
          </a:xfrm>
          <a:prstGeom prst="rect">
            <a:avLst/>
          </a:prstGeom>
          <a:solidFill>
            <a:srgbClr val="16213E"/>
          </a:solidFill>
          <a:ln w="19050">
            <a:solidFill>
              <a:srgbClr val="E58C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TextBox 84"/>
          <p:cNvSpPr txBox="1"/>
          <p:nvPr/>
        </p:nvSpPr>
        <p:spPr>
          <a:xfrm>
            <a:off x="4617720" y="6419088"/>
            <a:ext cx="14630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>
                <a:solidFill>
                  <a:srgbClr val="E58C1A"/>
                </a:solidFill>
              </a:rPr>
              <a:t>🟠  Siemens</a:t>
            </a:r>
          </a:p>
        </p:txBody>
      </p:sp>
      <p:sp>
        <p:nvSpPr>
          <p:cNvPr id="86" name="Rectangle 85"/>
          <p:cNvSpPr/>
          <p:nvPr/>
        </p:nvSpPr>
        <p:spPr>
          <a:xfrm>
            <a:off x="6400800" y="6400800"/>
            <a:ext cx="1554480" cy="274320"/>
          </a:xfrm>
          <a:prstGeom prst="rect">
            <a:avLst/>
          </a:prstGeom>
          <a:solidFill>
            <a:srgbClr val="16213E"/>
          </a:solidFill>
          <a:ln w="19050">
            <a:solidFill>
              <a:srgbClr val="008A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TextBox 86"/>
          <p:cNvSpPr txBox="1"/>
          <p:nvPr/>
        </p:nvSpPr>
        <p:spPr>
          <a:xfrm>
            <a:off x="6446520" y="6419088"/>
            <a:ext cx="14630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>
                <a:solidFill>
                  <a:srgbClr val="008AC8"/>
                </a:solidFill>
              </a:rPr>
              <a:t>🔵  OSS</a:t>
            </a:r>
          </a:p>
        </p:txBody>
      </p:sp>
      <p:sp>
        <p:nvSpPr>
          <p:cNvPr id="88" name="Rectangle 87"/>
          <p:cNvSpPr/>
          <p:nvPr/>
        </p:nvSpPr>
        <p:spPr>
          <a:xfrm>
            <a:off x="8229600" y="6400800"/>
            <a:ext cx="1554480" cy="274320"/>
          </a:xfrm>
          <a:prstGeom prst="rect">
            <a:avLst/>
          </a:prstGeom>
          <a:solidFill>
            <a:srgbClr val="16213E"/>
          </a:solidFill>
          <a:ln w="19050">
            <a:solidFill>
              <a:srgbClr val="F5C5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TextBox 88"/>
          <p:cNvSpPr txBox="1"/>
          <p:nvPr/>
        </p:nvSpPr>
        <p:spPr>
          <a:xfrm>
            <a:off x="8275320" y="6419088"/>
            <a:ext cx="14630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>
                <a:solidFill>
                  <a:srgbClr val="F5C518"/>
                </a:solidFill>
              </a:rPr>
              <a:t>🟡  Blueprint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A1A2E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76B900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3716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FFFFFF"/>
                </a:solidFill>
              </a:rPr>
              <a:t>Agent Orchestration Design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54864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AAAAAA"/>
                </a:solidFill>
              </a:rPr>
              <a:t>Every stage is a registered tool. The agent builds, runs, and evolves the pipeline.</a:t>
            </a:r>
          </a:p>
        </p:txBody>
      </p:sp>
      <p:sp>
        <p:nvSpPr>
          <p:cNvPr id="6" name="Rectangle 5"/>
          <p:cNvSpPr/>
          <p:nvPr/>
        </p:nvSpPr>
        <p:spPr>
          <a:xfrm>
            <a:off x="274320" y="1051560"/>
            <a:ext cx="3474720" cy="2560320"/>
          </a:xfrm>
          <a:prstGeom prst="rect">
            <a:avLst/>
          </a:prstGeom>
          <a:solidFill>
            <a:srgbClr val="16213E"/>
          </a:solidFill>
          <a:ln w="25400">
            <a:solidFill>
              <a:srgbClr val="76B9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74320" y="1051560"/>
            <a:ext cx="3474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76B900"/>
                </a:solidFill>
              </a:rPr>
              <a:t>TOOL REGISTRY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1480" y="1417320"/>
            <a:ext cx="3200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FFFFFF"/>
                </a:solidFill>
              </a:rPr>
              <a:t>Each stage registers: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1480" y="1655064"/>
            <a:ext cx="3200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AAAAAA"/>
                </a:solidFill>
              </a:rPr>
              <a:t>  • name + version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11480" y="1892808"/>
            <a:ext cx="3200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AAAAAA"/>
                </a:solidFill>
              </a:rPr>
              <a:t>  • input_schema / output_schema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11480" y="2130552"/>
            <a:ext cx="3200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AAAAAA"/>
                </a:solidFill>
              </a:rPr>
              <a:t>  • swappable_components[ ]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11480" y="2368296"/>
            <a:ext cx="3200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AAAAAA"/>
                </a:solidFill>
              </a:rPr>
              <a:t>  • health_check endpoint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11480" y="2606039"/>
            <a:ext cx="3200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FFFFFF"/>
                </a:solidFill>
              </a:rPr>
              <a:t/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11480" y="2843783"/>
            <a:ext cx="3200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FFFFFF"/>
                </a:solidFill>
              </a:rPr>
              <a:t>Agent queries registry to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11480" y="3081527"/>
            <a:ext cx="3200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FFFFFF"/>
                </a:solidFill>
              </a:rPr>
              <a:t>discover + configure pipeline.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11480" y="3319271"/>
            <a:ext cx="3200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FFFFFF"/>
                </a:solidFill>
              </a:rPr>
              <a:t>Swap = change one config key.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114800" y="1051560"/>
            <a:ext cx="3840480" cy="2560320"/>
          </a:xfrm>
          <a:prstGeom prst="rect">
            <a:avLst/>
          </a:prstGeom>
          <a:solidFill>
            <a:srgbClr val="0D2B45"/>
          </a:solidFill>
          <a:ln w="31750">
            <a:solidFill>
              <a:srgbClr val="76B9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114800" y="1051560"/>
            <a:ext cx="3840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76B900"/>
                </a:solidFill>
              </a:rPr>
              <a:t>🤖  PLANNING AGENT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251960" y="1417320"/>
            <a:ext cx="35661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FFFFFF"/>
                </a:solidFill>
              </a:rPr>
              <a:t>1.  Read registry → build pipeline spec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251960" y="1664208"/>
            <a:ext cx="35661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FFFFFF"/>
                </a:solidFill>
              </a:rPr>
              <a:t>2.  Call each stage tool in sequence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251960" y="1911095"/>
            <a:ext cx="35661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FFFFFF"/>
                </a:solidFill>
              </a:rPr>
              <a:t>3.  Evaluate outputs: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251960" y="2157984"/>
            <a:ext cx="35661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AAAAAA"/>
                </a:solidFill>
              </a:rPr>
              <a:t>      • Low confidence? → retry or swap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251960" y="2404872"/>
            <a:ext cx="35661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AAAAAA"/>
                </a:solidFill>
              </a:rPr>
              <a:t>      • Validation fail? → re-run upstream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251960" y="2651760"/>
            <a:ext cx="35661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AAAAAA"/>
                </a:solidFill>
              </a:rPr>
              <a:t>      • Human review needed? → escalate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251960" y="2898648"/>
            <a:ext cx="35661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FFFFFF"/>
                </a:solidFill>
              </a:rPr>
              <a:t>4.  Produce run report: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251960" y="3145536"/>
            <a:ext cx="35661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AAAAAA"/>
                </a:solidFill>
              </a:rPr>
              <a:t>      • which algorithm ran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251960" y="3392424"/>
            <a:ext cx="35661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AAAAAA"/>
                </a:solidFill>
              </a:rPr>
              <a:t>      • confidence scores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251960" y="3639312"/>
            <a:ext cx="35661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AAAAAA"/>
                </a:solidFill>
              </a:rPr>
              <a:t>      • validation results + provenance</a:t>
            </a:r>
          </a:p>
        </p:txBody>
      </p:sp>
      <p:sp>
        <p:nvSpPr>
          <p:cNvPr id="29" name="Rectangle 28"/>
          <p:cNvSpPr/>
          <p:nvPr/>
        </p:nvSpPr>
        <p:spPr>
          <a:xfrm>
            <a:off x="8321040" y="1051560"/>
            <a:ext cx="3566160" cy="2560320"/>
          </a:xfrm>
          <a:prstGeom prst="rect">
            <a:avLst/>
          </a:prstGeom>
          <a:solidFill>
            <a:srgbClr val="16213E"/>
          </a:solidFill>
          <a:ln w="25400">
            <a:solidFill>
              <a:srgbClr val="F5C5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321040" y="1051560"/>
            <a:ext cx="3566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F5C518"/>
                </a:solidFill>
              </a:rPr>
              <a:t>🟡  DEVELOPER AGENT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458200" y="1417320"/>
            <a:ext cx="33375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FFFFFF"/>
                </a:solidFill>
              </a:rPr>
              <a:t>Given the blueprint, a developer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458200" y="1655064"/>
            <a:ext cx="33375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FFFFFF"/>
                </a:solidFill>
              </a:rPr>
              <a:t>agent can: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458200" y="1892808"/>
            <a:ext cx="33375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FFFFFF"/>
                </a:solidFill>
              </a:rPr>
              <a:t/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458200" y="2130552"/>
            <a:ext cx="33375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AAAAAA"/>
                </a:solidFill>
              </a:rPr>
              <a:t>  • Read pipeline schema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458200" y="2368296"/>
            <a:ext cx="33375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AAAAAA"/>
                </a:solidFill>
              </a:rPr>
              <a:t>  • Understand swap points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458200" y="2606039"/>
            <a:ext cx="33375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AAAAAA"/>
                </a:solidFill>
              </a:rPr>
              <a:t>  • Generate custom pipeline spec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458200" y="2843783"/>
            <a:ext cx="33375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AAAAAA"/>
                </a:solidFill>
              </a:rPr>
              <a:t>  • Test alternate algorithms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458200" y="3081527"/>
            <a:ext cx="33375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AAAAAA"/>
                </a:solidFill>
              </a:rPr>
              <a:t>  • No core code changes needed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458200" y="3319271"/>
            <a:ext cx="33375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FFFFFF"/>
                </a:solidFill>
              </a:rPr>
              <a:t/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458200" y="3557015"/>
            <a:ext cx="33375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FFFFFF"/>
                </a:solidFill>
              </a:rPr>
              <a:t>Evolves as new capabilities ship.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3749039" y="2194560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76B900"/>
                </a:solidFill>
              </a:rPr>
              <a:t>→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7955279" y="2194560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76B900"/>
                </a:solidFill>
              </a:rPr>
              <a:t>→</a:t>
            </a:r>
          </a:p>
        </p:txBody>
      </p:sp>
      <p:sp>
        <p:nvSpPr>
          <p:cNvPr id="43" name="Rectangle 42"/>
          <p:cNvSpPr/>
          <p:nvPr/>
        </p:nvSpPr>
        <p:spPr>
          <a:xfrm>
            <a:off x="274320" y="3840480"/>
            <a:ext cx="11612880" cy="2560320"/>
          </a:xfrm>
          <a:prstGeom prst="rect">
            <a:avLst/>
          </a:prstGeom>
          <a:solidFill>
            <a:srgbClr val="16213E"/>
          </a:solidFill>
          <a:ln w="19050">
            <a:solidFill>
              <a:srgbClr val="008A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365760" y="3858768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008AC8"/>
                </a:solidFill>
              </a:rPr>
              <a:t>Example: Swapping Segmentation Algorithm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7772400" y="3858768"/>
            <a:ext cx="3931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AAAAAA"/>
                </a:solidFill>
              </a:rPr>
              <a:t>No pipeline rewrite — one config change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457200" y="4251960"/>
            <a:ext cx="1133856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>
                <a:solidFill>
                  <a:srgbClr val="AAAAAA"/>
                </a:solidFill>
              </a:rPr>
              <a:t># Default pipeline config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457200" y="4498848"/>
            <a:ext cx="1133856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>
                <a:solidFill>
                  <a:srgbClr val="FFFFFF"/>
                </a:solidFill>
              </a:rPr>
              <a:t>segmentation: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457200" y="4745736"/>
            <a:ext cx="1133856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>
                <a:solidFill>
                  <a:srgbClr val="AAAAAA"/>
                </a:solidFill>
              </a:rPr>
              <a:t>  algorithm: euclidean_cluster   # ← change this to "dbscan" or any registered algorithm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457200" y="4992623"/>
            <a:ext cx="1133856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>
                <a:solidFill>
                  <a:srgbClr val="FFFFFF"/>
                </a:solidFill>
              </a:rPr>
              <a:t>  voxel_size: 0.05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457200" y="5239511"/>
            <a:ext cx="1133856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>
                <a:solidFill>
                  <a:srgbClr val="FFFFFF"/>
                </a:solidFill>
              </a:rPr>
              <a:t/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457200" y="5486399"/>
            <a:ext cx="1133856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>
                <a:solidFill>
                  <a:srgbClr val="AAAAAA"/>
                </a:solidFill>
              </a:rPr>
              <a:t># New algorithm? Register it once: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457200" y="5733287"/>
            <a:ext cx="1133856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>
                <a:solidFill>
                  <a:srgbClr val="F5C518"/>
                </a:solidFill>
              </a:rPr>
              <a:t>registry.register("my_algo", MyAlgoClass, input_schema=..., output_schema=...)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457200" y="5980175"/>
            <a:ext cx="1133856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>
                <a:solidFill>
                  <a:srgbClr val="AAAAAA"/>
                </a:solidFill>
              </a:rPr>
              <a:t># Agent discovers it automatically on next run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A1A2E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76B900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3716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FFFFFF"/>
                </a:solidFill>
              </a:rPr>
              <a:t>Component Ownership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54864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AAAAAA"/>
                </a:solidFill>
              </a:rPr>
              <a:t>NVIDIA builds infrastructure + reference. Partners provide domain libraries. OSS fills commodity gaps.</a:t>
            </a:r>
          </a:p>
        </p:txBody>
      </p:sp>
      <p:sp>
        <p:nvSpPr>
          <p:cNvPr id="6" name="Rectangle 5"/>
          <p:cNvSpPr/>
          <p:nvPr/>
        </p:nvSpPr>
        <p:spPr>
          <a:xfrm>
            <a:off x="182880" y="1005840"/>
            <a:ext cx="2331720" cy="5577840"/>
          </a:xfrm>
          <a:prstGeom prst="rect">
            <a:avLst/>
          </a:prstGeom>
          <a:solidFill>
            <a:srgbClr val="16213E"/>
          </a:solidFill>
          <a:ln w="25400">
            <a:solidFill>
              <a:srgbClr val="76B9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28600" y="1024128"/>
            <a:ext cx="224027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76B900"/>
                </a:solidFill>
              </a:rPr>
              <a:t>🟢  NVIDIA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74320" y="1389888"/>
            <a:ext cx="2148839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>
                <a:solidFill>
                  <a:srgbClr val="FFFFFF"/>
                </a:solidFill>
              </a:rPr>
              <a:t>• NVCF runtime + inference endpoints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74320" y="1737360"/>
            <a:ext cx="2148839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>
                <a:solidFill>
                  <a:srgbClr val="FFFFFF"/>
                </a:solidFill>
              </a:rPr>
              <a:t>• OpenUSD SDK (prim assembly, stage output)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74320" y="2084831"/>
            <a:ext cx="2148839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>
                <a:solidFill>
                  <a:srgbClr val="FFFFFF"/>
                </a:solidFill>
              </a:rPr>
              <a:t>• AI Material Agent (NVCF-hosted service)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74320" y="2432303"/>
            <a:ext cx="2148839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>
                <a:solidFill>
                  <a:srgbClr val="FFFFFF"/>
                </a:solidFill>
              </a:rPr>
              <a:t>• MDL material library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74320" y="2779775"/>
            <a:ext cx="2148839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>
                <a:solidFill>
                  <a:srgbClr val="FFFFFF"/>
                </a:solidFill>
              </a:rPr>
              <a:t>• ovRTX renderer (validation spot-check)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74320" y="3127247"/>
            <a:ext cx="2148839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>
                <a:solidFill>
                  <a:srgbClr val="FFFFFF"/>
                </a:solidFill>
              </a:rPr>
              <a:t>• SimReady validator (standalone library)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74320" y="3474719"/>
            <a:ext cx="2148839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>
                <a:solidFill>
                  <a:srgbClr val="FFFFFF"/>
                </a:solidFill>
              </a:rPr>
              <a:t>• Pipeline orchestration blueprint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74320" y="3822191"/>
            <a:ext cx="2148839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>
                <a:solidFill>
                  <a:srgbClr val="FFFFFF"/>
                </a:solidFill>
              </a:rPr>
              <a:t>• Stage config schemas (JSON)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74320" y="4169663"/>
            <a:ext cx="2148839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>
                <a:solidFill>
                  <a:srgbClr val="FFFFFF"/>
                </a:solidFill>
              </a:rPr>
              <a:t>• Reference planning agent (sample)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606040" y="1005840"/>
            <a:ext cx="2331720" cy="5577840"/>
          </a:xfrm>
          <a:prstGeom prst="rect">
            <a:avLst/>
          </a:prstGeom>
          <a:solidFill>
            <a:srgbClr val="16213E"/>
          </a:solidFill>
          <a:ln w="25400">
            <a:solidFill>
              <a:srgbClr val="E54B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2651760" y="1024128"/>
            <a:ext cx="224027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E54B4B"/>
                </a:solidFill>
              </a:rPr>
              <a:t>🔴  Physna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697480" y="1389888"/>
            <a:ext cx="2148839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>
                <a:solidFill>
                  <a:srgbClr val="FFFFFF"/>
                </a:solidFill>
              </a:rPr>
              <a:t>• Geometric search / CAD matching (Stage 3)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697480" y="1737360"/>
            <a:ext cx="2148839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>
                <a:solidFill>
                  <a:srgbClr val="FFFFFF"/>
                </a:solidFill>
              </a:rPr>
              <a:t>• CAD substitution — clean mesh swap
on high-confidence match (Stage 4)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697480" y="2350008"/>
            <a:ext cx="2148839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>
                <a:solidFill>
                  <a:srgbClr val="FFFFFF"/>
                </a:solidFill>
              </a:rPr>
              <a:t>• Delivery: Python library or REST API
(TBD — open question)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029200" y="1005840"/>
            <a:ext cx="2331720" cy="5577840"/>
          </a:xfrm>
          <a:prstGeom prst="rect">
            <a:avLst/>
          </a:prstGeom>
          <a:solidFill>
            <a:srgbClr val="16213E"/>
          </a:solidFill>
          <a:ln w="25400">
            <a:solidFill>
              <a:srgbClr val="E58C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074920" y="1024128"/>
            <a:ext cx="224027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E58C1A"/>
                </a:solidFill>
              </a:rPr>
              <a:t>🟠  Siemens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120640" y="1389888"/>
            <a:ext cx="2148839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>
                <a:solidFill>
                  <a:srgbClr val="FFFFFF"/>
                </a:solidFill>
              </a:rPr>
              <a:t>• DTC format adapter (Stages 5–6)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120640" y="1737360"/>
            <a:ext cx="2148839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>
                <a:solidFill>
                  <a:srgbClr val="FFFFFF"/>
                </a:solidFill>
              </a:rPr>
              <a:t>• DTC-specific semantic property schema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120640" y="2221991"/>
            <a:ext cx="2148839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>
                <a:solidFill>
                  <a:srgbClr val="FFFFFF"/>
                </a:solidFill>
              </a:rPr>
              <a:t>• Siemens adopts NVIDIA blueprint,
adds DTC-specific integration layer.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452360" y="1005840"/>
            <a:ext cx="2331720" cy="5577840"/>
          </a:xfrm>
          <a:prstGeom prst="rect">
            <a:avLst/>
          </a:prstGeom>
          <a:solidFill>
            <a:srgbClr val="16213E"/>
          </a:solidFill>
          <a:ln w="25400">
            <a:solidFill>
              <a:srgbClr val="008A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498080" y="1024128"/>
            <a:ext cx="224027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008AC8"/>
                </a:solidFill>
              </a:rPr>
              <a:t>🟢  OSS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543800" y="1389888"/>
            <a:ext cx="2148839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>
                <a:solidFill>
                  <a:srgbClr val="FFFFFF"/>
                </a:solidFill>
              </a:rPr>
              <a:t>• open3d: point cloud reader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543800" y="1737360"/>
            <a:ext cx="2148839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>
                <a:solidFill>
                  <a:srgbClr val="FFFFFF"/>
                </a:solidFill>
              </a:rPr>
              <a:t>• open3d: noise filter + voxel downsample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543800" y="2084831"/>
            <a:ext cx="2148839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>
                <a:solidFill>
                  <a:srgbClr val="FFFFFF"/>
                </a:solidFill>
              </a:rPr>
              <a:t>• open3d: Euclidean cluster segmentation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543800" y="2432303"/>
            <a:ext cx="2148839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>
                <a:solidFill>
                  <a:srgbClr val="FFFFFF"/>
                </a:solidFill>
              </a:rPr>
              <a:t>• open3d: Poisson/BPA mesh reconstruction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543800" y="2779775"/>
            <a:ext cx="2148839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>
                <a:solidFill>
                  <a:srgbClr val="FFFFFF"/>
                </a:solidFill>
              </a:rPr>
              <a:t>• scikit-learn: DBSCAN (optional swap)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543800" y="3127247"/>
            <a:ext cx="2148839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>
                <a:solidFill>
                  <a:srgbClr val="FFFFFF"/>
                </a:solidFill>
              </a:rPr>
              <a:t>• PDAL: alternative point cloud I/O</a:t>
            </a:r>
          </a:p>
        </p:txBody>
      </p:sp>
      <p:sp>
        <p:nvSpPr>
          <p:cNvPr id="35" name="Rectangle 34"/>
          <p:cNvSpPr/>
          <p:nvPr/>
        </p:nvSpPr>
        <p:spPr>
          <a:xfrm>
            <a:off x="9875520" y="1005840"/>
            <a:ext cx="2331720" cy="5577840"/>
          </a:xfrm>
          <a:prstGeom prst="rect">
            <a:avLst/>
          </a:prstGeom>
          <a:solidFill>
            <a:srgbClr val="16213E"/>
          </a:solidFill>
          <a:ln w="25400">
            <a:solidFill>
              <a:srgbClr val="F5C5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9921240" y="1024128"/>
            <a:ext cx="224027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F5C518"/>
                </a:solidFill>
              </a:rPr>
              <a:t>🟡  Blueprint / Sample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966960" y="1389888"/>
            <a:ext cx="2148839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>
                <a:solidFill>
                  <a:srgbClr val="FFFFFF"/>
                </a:solidFill>
              </a:rPr>
              <a:t>• Coord normalization sample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966960" y="1737360"/>
            <a:ext cx="2148839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>
                <a:solidFill>
                  <a:srgbClr val="FFFFFF"/>
                </a:solidFill>
              </a:rPr>
              <a:t>• Algorithm registry + runner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966960" y="2084831"/>
            <a:ext cx="2148839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>
                <a:solidFill>
                  <a:srgbClr val="FFFFFF"/>
                </a:solidFill>
              </a:rPr>
              <a:t>• Match result schema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966960" y="2432303"/>
            <a:ext cx="2148839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>
                <a:solidFill>
                  <a:srgbClr val="FFFFFF"/>
                </a:solidFill>
              </a:rPr>
              <a:t>• Geometry QA + watertight check sample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9966960" y="2779775"/>
            <a:ext cx="2148839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>
                <a:solidFill>
                  <a:srgbClr val="FFFFFF"/>
                </a:solidFill>
              </a:rPr>
              <a:t>• Physics property defaults sample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9966960" y="3127247"/>
            <a:ext cx="2148839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>
                <a:solidFill>
                  <a:srgbClr val="FFFFFF"/>
                </a:solidFill>
              </a:rPr>
              <a:t>• USD output writer sample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9966960" y="3474719"/>
            <a:ext cx="2148839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>
                <a:solidFill>
                  <a:srgbClr val="FFFFFF"/>
                </a:solidFill>
              </a:rPr>
              <a:t>• swap_segmentation.py example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9966960" y="3822191"/>
            <a:ext cx="2148839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>
                <a:solidFill>
                  <a:srgbClr val="FFFFFF"/>
                </a:solidFill>
              </a:rPr>
              <a:t>• orchestration_agent.py example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A1A2E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76B900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3716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FFFFFF"/>
                </a:solidFill>
              </a:rPr>
              <a:t>Open Questions — Decide Before Engineering Spec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54864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AAAAAA"/>
                </a:solidFill>
              </a:rPr>
              <a:t>These block the detailed requirements. Resolve in order.</a:t>
            </a:r>
          </a:p>
        </p:txBody>
      </p:sp>
      <p:sp>
        <p:nvSpPr>
          <p:cNvPr id="6" name="Rectangle 5"/>
          <p:cNvSpPr/>
          <p:nvPr/>
        </p:nvSpPr>
        <p:spPr>
          <a:xfrm>
            <a:off x="274320" y="1051560"/>
            <a:ext cx="11612880" cy="1188720"/>
          </a:xfrm>
          <a:prstGeom prst="rect">
            <a:avLst/>
          </a:prstGeom>
          <a:solidFill>
            <a:srgbClr val="16213E"/>
          </a:solidFill>
          <a:ln w="25400">
            <a:solidFill>
              <a:srgbClr val="E54B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274320" y="1051560"/>
            <a:ext cx="502920" cy="1188720"/>
          </a:xfrm>
          <a:prstGeom prst="rect">
            <a:avLst/>
          </a:prstGeom>
          <a:solidFill>
            <a:srgbClr val="E54B4B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74320" y="1371600"/>
            <a:ext cx="502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1124712"/>
            <a:ext cx="10789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E54B4B"/>
                </a:solidFill>
              </a:rPr>
              <a:t>Physna integration model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1463039"/>
            <a:ext cx="107899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</a:rPr>
              <a:t>Do they ship a Python library or REST API?
Impacts how we wrap them in NVCF and what the latency profile looks like.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74320" y="2423160"/>
            <a:ext cx="11612880" cy="1188720"/>
          </a:xfrm>
          <a:prstGeom prst="rect">
            <a:avLst/>
          </a:prstGeom>
          <a:solidFill>
            <a:srgbClr val="16213E"/>
          </a:solidFill>
          <a:ln w="25400">
            <a:solidFill>
              <a:srgbClr val="008A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274320" y="2423160"/>
            <a:ext cx="502920" cy="1188720"/>
          </a:xfrm>
          <a:prstGeom prst="rect">
            <a:avLst/>
          </a:prstGeom>
          <a:solidFill>
            <a:srgbClr val="008AC8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74320" y="2743200"/>
            <a:ext cx="502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" y="2496312"/>
            <a:ext cx="10789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008AC8"/>
                </a:solidFill>
              </a:rPr>
              <a:t>Segmentation fidelity at EA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2834640"/>
            <a:ext cx="107899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</a:rPr>
              <a:t>Is open3d Euclidean cluster segmentation sufficient for factory floor objects at EA?
Or do we need to scope a DL model (post-EA)?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74320" y="3794760"/>
            <a:ext cx="11612880" cy="1188720"/>
          </a:xfrm>
          <a:prstGeom prst="rect">
            <a:avLst/>
          </a:prstGeom>
          <a:solidFill>
            <a:srgbClr val="16213E"/>
          </a:solidFill>
          <a:ln w="25400">
            <a:solidFill>
              <a:srgbClr val="76B9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274320" y="3794760"/>
            <a:ext cx="502920" cy="1188720"/>
          </a:xfrm>
          <a:prstGeom prst="rect">
            <a:avLst/>
          </a:prstGeom>
          <a:solidFill>
            <a:srgbClr val="76B900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274320" y="4114800"/>
            <a:ext cx="502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14400" y="3867912"/>
            <a:ext cx="10789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76B900"/>
                </a:solidFill>
              </a:rPr>
              <a:t>SimReady validator availability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14400" y="4206240"/>
            <a:ext cx="107899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</a:rPr>
              <a:t>Confirmed standalone library (not Kit-embedded).
Which SDK package? What's the current API surface?</a:t>
            </a:r>
          </a:p>
        </p:txBody>
      </p:sp>
      <p:sp>
        <p:nvSpPr>
          <p:cNvPr id="21" name="Rectangle 20"/>
          <p:cNvSpPr/>
          <p:nvPr/>
        </p:nvSpPr>
        <p:spPr>
          <a:xfrm>
            <a:off x="274320" y="5166360"/>
            <a:ext cx="11612880" cy="1188720"/>
          </a:xfrm>
          <a:prstGeom prst="rect">
            <a:avLst/>
          </a:prstGeom>
          <a:solidFill>
            <a:srgbClr val="16213E"/>
          </a:solidFill>
          <a:ln w="25400">
            <a:solidFill>
              <a:srgbClr val="E58C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274320" y="5166360"/>
            <a:ext cx="502920" cy="1188720"/>
          </a:xfrm>
          <a:prstGeom prst="rect">
            <a:avLst/>
          </a:prstGeom>
          <a:solidFill>
            <a:srgbClr val="E58C1A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274320" y="5486400"/>
            <a:ext cx="502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14400" y="5239512"/>
            <a:ext cx="10789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E58C1A"/>
                </a:solidFill>
              </a:rPr>
              <a:t>Siemens adapter EA scope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14400" y="5577840"/>
            <a:ext cx="107899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</a:rPr>
              <a:t>Is the Siemens DTC export adapter in-scope for EA, or is raw USD output sufficient?
Defines whether Siemens is a launch partner or a follow-on.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