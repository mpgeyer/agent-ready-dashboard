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76B90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0" b="1">
                <a:solidFill>
                  <a:srgbClr val="FFFFFF"/>
                </a:solidFill>
              </a:rPr>
              <a:t>Scan2Twin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402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76B900"/>
                </a:solidFill>
              </a:rPr>
              <a:t>Reference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8803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AAAAAA"/>
                </a:solidFill>
              </a:rPr>
              <a:t>Point Cloud  →  SimReady USD Digital Twin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4612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AAAAA"/>
                </a:solidFill>
              </a:rPr>
              <a:t>Agent-centric  ·  Modular  ·  Cloud-native  ·  Built on the Universal Agent Archetype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3840480"/>
            <a:ext cx="1920240" cy="1143000"/>
          </a:xfrm>
          <a:prstGeom prst="rect">
            <a:avLst/>
          </a:prstGeom>
          <a:solidFill>
            <a:srgbClr val="16213E"/>
          </a:solidFill>
          <a:ln w="3175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913632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54B4B"/>
                </a:solidFill>
              </a:rPr>
              <a:t>PERCEIVE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315968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</a:rPr>
              <a:t>Read E57
point cloud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35808" y="3840480"/>
            <a:ext cx="1920240" cy="1143000"/>
          </a:xfrm>
          <a:prstGeom prst="rect">
            <a:avLst/>
          </a:prstGeom>
          <a:solidFill>
            <a:srgbClr val="16213E"/>
          </a:solidFill>
          <a:ln w="317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81528" y="3913632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76B900"/>
                </a:solidFill>
              </a:rPr>
              <a:t>PLAN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81528" y="4315968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</a:rPr>
              <a:t>LLM selects
skills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65776" y="3840480"/>
            <a:ext cx="1920240" cy="1143000"/>
          </a:xfrm>
          <a:prstGeom prst="rect">
            <a:avLst/>
          </a:prstGeom>
          <a:solidFill>
            <a:srgbClr val="16213E"/>
          </a:solidFill>
          <a:ln w="31750">
            <a:solidFill>
              <a:srgbClr val="E58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11496" y="3913632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58C1A"/>
                </a:solidFill>
              </a:rPr>
              <a:t>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11496" y="4315968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</a:rPr>
              <a:t>Call NVCF,
open3d, Physna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95744" y="3840480"/>
            <a:ext cx="1920240" cy="1143000"/>
          </a:xfrm>
          <a:prstGeom prst="rect">
            <a:avLst/>
          </a:prstGeom>
          <a:solidFill>
            <a:srgbClr val="16213E"/>
          </a:solidFill>
          <a:ln w="31750">
            <a:solidFill>
              <a:srgbClr val="A06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41464" y="3913632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A060E0"/>
                </a:solidFill>
              </a:rPr>
              <a:t>REMEMBER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41464" y="4315968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</a:rPr>
              <a:t>Object state
+ provenance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25712" y="3840480"/>
            <a:ext cx="1920240" cy="1143000"/>
          </a:xfrm>
          <a:prstGeom prst="rect">
            <a:avLst/>
          </a:prstGeom>
          <a:solidFill>
            <a:srgbClr val="16213E"/>
          </a:solidFill>
          <a:ln w="3175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71432" y="3913632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5C518"/>
                </a:solidFill>
              </a:rPr>
              <a:t>REPORT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71432" y="4315968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</a:rPr>
              <a:t>SimReady USD
+ run report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9893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</a:rPr>
              <a:t>v0.3  |  Internal — Engineering &amp; Agent Requirements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76B90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The Universal Agent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</a:rPr>
              <a:t>Every agent runs this loop. Scan2Twin is just domain-specific skills dropped into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663440" y="868680"/>
            <a:ext cx="2834640" cy="914400"/>
          </a:xfrm>
          <a:prstGeom prst="rect">
            <a:avLst/>
          </a:prstGeom>
          <a:solidFill>
            <a:srgbClr val="16213E"/>
          </a:solidFill>
          <a:ln w="31750">
            <a:solidFill>
              <a:srgbClr val="A06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63440" y="923544"/>
            <a:ext cx="2834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A060E0"/>
                </a:solidFill>
              </a:rPr>
              <a:t>MEMORY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1289304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AAAAAA"/>
                </a:solidFill>
              </a:rPr>
              <a:t>Working: object states, confidence
Long-term: run history, provenance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9320" y="1883664"/>
            <a:ext cx="274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A060E0"/>
                </a:solidFill>
              </a:rPr>
              <a:t>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1737360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AAAAAA"/>
                </a:solidFill>
              </a:rPr>
              <a:t>read / write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63440" y="2167128"/>
            <a:ext cx="2834640" cy="1417320"/>
          </a:xfrm>
          <a:prstGeom prst="rect">
            <a:avLst/>
          </a:prstGeom>
          <a:solidFill>
            <a:srgbClr val="0D2B45"/>
          </a:solidFill>
          <a:ln w="3810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2258568"/>
            <a:ext cx="2834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76B900"/>
                </a:solidFill>
              </a:rPr>
              <a:t>THINK
(LLM / Planner)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825496"/>
            <a:ext cx="28346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AAAAAA"/>
                </a:solidFill>
              </a:rPr>
              <a:t>Reason about state
Select next skill
Evaluate result · Update plan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167128"/>
            <a:ext cx="2514600" cy="1417320"/>
          </a:xfrm>
          <a:prstGeom prst="rect">
            <a:avLst/>
          </a:prstGeom>
          <a:solidFill>
            <a:srgbClr val="16213E"/>
          </a:solidFill>
          <a:ln w="3175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2276856"/>
            <a:ext cx="2514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54B4B"/>
                </a:solidFill>
              </a:rPr>
              <a:t>PERCEIVE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2715768"/>
            <a:ext cx="2514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AAAAAA"/>
                </a:solidFill>
              </a:rPr>
              <a:t>E57 · config · job params
tool results · error states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372600" y="2167128"/>
            <a:ext cx="2514600" cy="1417320"/>
          </a:xfrm>
          <a:prstGeom prst="rect">
            <a:avLst/>
          </a:prstGeom>
          <a:solidFill>
            <a:srgbClr val="16213E"/>
          </a:solidFill>
          <a:ln w="31750">
            <a:solidFill>
              <a:srgbClr val="E58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72600" y="2276856"/>
            <a:ext cx="2514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58C1A"/>
                </a:solidFill>
              </a:rPr>
              <a:t>ACT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600" y="2715768"/>
            <a:ext cx="2514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AAAAAA"/>
                </a:solidFill>
              </a:rPr>
              <a:t>Call skill APIs
NVCF · open3d · Physna
ovRTX · USD SDK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88920" y="2711196"/>
            <a:ext cx="411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E54B4B"/>
                </a:solidFill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3022091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AAAAAA"/>
                </a:solidFill>
              </a:rPr>
              <a:t>obs.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79" y="2711196"/>
            <a:ext cx="411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E58C1A"/>
                </a:solidFill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3022091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AAAAAA"/>
                </a:solidFill>
              </a:rPr>
              <a:t>skill calls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" y="3739896"/>
            <a:ext cx="9966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AAAAAA"/>
                </a:solidFill>
              </a:rPr>
              <a:t>↻  tool results feed back as new observations  ·  loop until: goal met · human needed · max steps · error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4151376"/>
            <a:ext cx="274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5C518"/>
                </a:solidFill>
              </a:rPr>
              <a:t>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3959352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AAAAAA"/>
                </a:solidFill>
              </a:rPr>
              <a:t>goal / review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17720" y="4480560"/>
            <a:ext cx="2834640" cy="914400"/>
          </a:xfrm>
          <a:prstGeom prst="rect">
            <a:avLst/>
          </a:prstGeom>
          <a:solidFill>
            <a:srgbClr val="16213E"/>
          </a:solidFill>
          <a:ln w="3175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17720" y="4535424"/>
            <a:ext cx="2834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5C518"/>
                </a:solidFill>
              </a:rPr>
              <a:t>HUMAN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7720" y="4901184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AAAAAA"/>
                </a:solidFill>
              </a:rPr>
              <a:t>Provides job goal · approves low-confidence
reviews SimReady USD + run report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8600" y="5824728"/>
            <a:ext cx="11704320" cy="457200"/>
          </a:xfrm>
          <a:prstGeom prst="rect">
            <a:avLst/>
          </a:prstGeom>
          <a:solidFill>
            <a:srgbClr val="0D2B45"/>
          </a:solidFill>
          <a:ln w="1270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5897880"/>
            <a:ext cx="11338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76B900"/>
                </a:solidFill>
              </a:rPr>
              <a:t>Design principle:  Brain stays generic.  Memory scopes the context.  Skills define the domain.  Swap skills = new agent.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76B90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Scan2Twin Agent — Skills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</a:rPr>
              <a:t>7 skills. Agent decides which to call, in what order, and whether to retry. No hardcoded sequence.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2743200"/>
            <a:ext cx="3017520" cy="1371600"/>
          </a:xfrm>
          <a:prstGeom prst="rect">
            <a:avLst/>
          </a:prstGeom>
          <a:solidFill>
            <a:srgbClr val="0D2B45"/>
          </a:solidFill>
          <a:ln w="3810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28346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76B900"/>
                </a:solidFill>
              </a:rPr>
              <a:t>SCAN2TWIN
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3364992"/>
            <a:ext cx="30175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AAAAAA"/>
                </a:solidFill>
              </a:rPr>
              <a:t>Plans · calls skills
evaluates · retries · reports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1005840"/>
            <a:ext cx="3017520" cy="566928"/>
          </a:xfrm>
          <a:prstGeom prst="rect">
            <a:avLst/>
          </a:prstGeom>
          <a:solidFill>
            <a:srgbClr val="16213E"/>
          </a:solidFill>
          <a:ln w="1270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0515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</a:rPr>
              <a:t>INPUT: E57 / LAS / 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53619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AAAAAA"/>
                </a:solidFill>
              </a:rPr>
              <a:t>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5349240"/>
            <a:ext cx="3017520" cy="566928"/>
          </a:xfrm>
          <a:prstGeom prst="rect">
            <a:avLst/>
          </a:prstGeom>
          <a:solidFill>
            <a:srgbClr val="16213E"/>
          </a:solidFill>
          <a:ln w="2540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53949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76B900"/>
                </a:solidFill>
              </a:rPr>
              <a:t>OUTPUT: SimReady USD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502920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76B900"/>
                </a:solidFill>
              </a:rPr>
              <a:t>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005840"/>
            <a:ext cx="2606040" cy="1005840"/>
          </a:xfrm>
          <a:prstGeom prst="rect">
            <a:avLst/>
          </a:prstGeom>
          <a:solidFill>
            <a:srgbClr val="16213E"/>
          </a:solidFill>
          <a:ln w="3175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1069848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008AC8"/>
                </a:solidFill>
              </a:rPr>
              <a:t>Ingest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1481328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AAAAAA"/>
                </a:solidFill>
              </a:rPr>
              <a:t>pye57 + open3d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606040"/>
            <a:ext cx="2606040" cy="1005840"/>
          </a:xfrm>
          <a:prstGeom prst="rect">
            <a:avLst/>
          </a:prstGeom>
          <a:solidFill>
            <a:srgbClr val="16213E"/>
          </a:solidFill>
          <a:ln w="3175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2670048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008AC8"/>
                </a:solidFill>
              </a:rPr>
              <a:t>Segment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081528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AAAAAA"/>
                </a:solidFill>
              </a:rPr>
              <a:t>open3d / DBSCAN
swappable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206240"/>
            <a:ext cx="2606040" cy="1005840"/>
          </a:xfrm>
          <a:prstGeom prst="rect">
            <a:avLst/>
          </a:prstGeom>
          <a:solidFill>
            <a:srgbClr val="16213E"/>
          </a:solidFill>
          <a:ln w="3175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270248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54B4B"/>
                </a:solidFill>
              </a:rPr>
              <a:t>Recognize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681727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AAAAAA"/>
                </a:solidFill>
              </a:rPr>
              <a:t>Physna geometric
CAD search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2606040" cy="1005840"/>
          </a:xfrm>
          <a:prstGeom prst="rect">
            <a:avLst/>
          </a:prstGeom>
          <a:solidFill>
            <a:srgbClr val="16213E"/>
          </a:solidFill>
          <a:ln w="3175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0" y="1069848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E54B4B"/>
                </a:solidFill>
              </a:rPr>
              <a:t>Reconstruct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1481328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AAAAAA"/>
                </a:solidFill>
              </a:rPr>
              <a:t>open3d mesh +
Physna CAD swap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0" y="2606040"/>
            <a:ext cx="2606040" cy="1005840"/>
          </a:xfrm>
          <a:prstGeom prst="rect">
            <a:avLst/>
          </a:prstGeom>
          <a:solidFill>
            <a:srgbClr val="16213E"/>
          </a:solidFill>
          <a:ln w="317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0" y="2670048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76B900"/>
                </a:solidFill>
              </a:rPr>
              <a:t>Materials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3081528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AAAAAA"/>
                </a:solidFill>
              </a:rPr>
              <a:t>NVCF AI Material
Agent + MDL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44000" y="4206240"/>
            <a:ext cx="2606040" cy="1005840"/>
          </a:xfrm>
          <a:prstGeom prst="rect">
            <a:avLst/>
          </a:prstGeom>
          <a:solidFill>
            <a:srgbClr val="16213E"/>
          </a:solidFill>
          <a:ln w="317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440" y="4270248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76B900"/>
                </a:solidFill>
              </a:rPr>
              <a:t>Render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4681727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AAAAAA"/>
                </a:solidFill>
              </a:rPr>
              <a:t>ovRTX
(NVCF endpoint)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44000" y="5486400"/>
            <a:ext cx="2606040" cy="1005840"/>
          </a:xfrm>
          <a:prstGeom prst="rect">
            <a:avLst/>
          </a:prstGeom>
          <a:solidFill>
            <a:srgbClr val="16213E"/>
          </a:solidFill>
          <a:ln w="317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35440" y="5550408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76B900"/>
                </a:solidFill>
              </a:rPr>
              <a:t>Assemble &amp;
Validate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0" y="5961888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AAAAAA"/>
                </a:solidFill>
              </a:rPr>
              <a:t>OpenUSD SDK +
SimReady validator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80360" y="1389888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AAAAAA"/>
                </a:solidFill>
              </a:rPr>
              <a:t>calls →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80360" y="2990088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AAAAAA"/>
                </a:solidFill>
              </a:rPr>
              <a:t>calls 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80360" y="4590288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AAAAAA"/>
                </a:solidFill>
              </a:rPr>
              <a:t>calls 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89520" y="1389888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AAAAAA"/>
                </a:solidFill>
              </a:rPr>
              <a:t>← calls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89520" y="2990088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AAAAAA"/>
                </a:solidFill>
              </a:rPr>
              <a:t>← calls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89520" y="4590288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AAAAAA"/>
                </a:solidFill>
              </a:rPr>
              <a:t>← calls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89520" y="5870448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AAAAAA"/>
                </a:solidFill>
              </a:rPr>
              <a:t>← calls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98448" y="6446520"/>
            <a:ext cx="1783080" cy="292608"/>
          </a:xfrm>
          <a:prstGeom prst="rect">
            <a:avLst/>
          </a:prstGeom>
          <a:solidFill>
            <a:srgbClr val="16213E"/>
          </a:solidFill>
          <a:ln w="2540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344168" y="6464808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76B900"/>
                </a:solidFill>
              </a:rPr>
              <a:t>NVIDIA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18688" y="6446520"/>
            <a:ext cx="1783080" cy="292608"/>
          </a:xfrm>
          <a:prstGeom prst="rect">
            <a:avLst/>
          </a:prstGeom>
          <a:solidFill>
            <a:srgbClr val="16213E"/>
          </a:solidFill>
          <a:ln w="2540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64408" y="6464808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E54B4B"/>
                </a:solidFill>
              </a:rPr>
              <a:t>Physna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76B90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Skills — What Each One Wraps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</a:rPr>
              <a:t>Each skill = one callable tool. Typed input/output. Swappable implementation. Returns confidence + structured errors.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155448" y="960120"/>
            <a:ext cx="1606731" cy="384048"/>
          </a:xfrm>
          <a:prstGeom prst="rect">
            <a:avLst/>
          </a:prstGeom>
          <a:solidFill>
            <a:srgbClr val="16213E"/>
          </a:solidFill>
          <a:ln w="3175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0312" y="987552"/>
            <a:ext cx="1515291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008AC8"/>
                </a:solidFill>
              </a:rPr>
              <a:t>Ingest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" y="141732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176" y="147218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8AC8"/>
                </a:solidFill>
              </a:rPr>
              <a:t>pye57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" y="181965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E57 native read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" y="260604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5176" y="266090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8AC8"/>
                </a:solidFill>
              </a:rPr>
              <a:t>open3d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" y="300837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Voxel downsample + outlier filter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" y="379476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5176" y="384962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5C518"/>
                </a:solidFill>
              </a:rPr>
              <a:t>Coord normalize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" y="419709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Floor=Z0, centroid=XY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53619" y="960120"/>
            <a:ext cx="1606731" cy="384048"/>
          </a:xfrm>
          <a:prstGeom prst="rect">
            <a:avLst/>
          </a:prstGeom>
          <a:solidFill>
            <a:srgbClr val="16213E"/>
          </a:solidFill>
          <a:ln w="3175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08483" y="987552"/>
            <a:ext cx="1515291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008AC8"/>
                </a:solidFill>
              </a:rPr>
              <a:t>Segment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99339" y="141732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63347" y="147218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8AC8"/>
                </a:solidFill>
              </a:rPr>
              <a:t>Euclidean cluster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3347" y="181965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Default — no GPU needed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99339" y="260604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963347" y="266090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8AC8"/>
                </a:solidFill>
              </a:rPr>
              <a:t>DBSCAN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63347" y="300837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Swappable via skill config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99339" y="379476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963347" y="384962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5C518"/>
                </a:solidFill>
              </a:rPr>
              <a:t>Skill registry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63347" y="419709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Register any new algorithm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51790" y="960120"/>
            <a:ext cx="1606731" cy="384048"/>
          </a:xfrm>
          <a:prstGeom prst="rect">
            <a:avLst/>
          </a:prstGeom>
          <a:solidFill>
            <a:srgbClr val="16213E"/>
          </a:solidFill>
          <a:ln w="3175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06654" y="987552"/>
            <a:ext cx="1515291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E54B4B"/>
                </a:solidFill>
              </a:rPr>
              <a:t>Recognize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597510" y="141732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61518" y="147218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E54B4B"/>
                </a:solidFill>
              </a:rPr>
              <a:t>Physna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61518" y="181965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Geometric CAD search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97510" y="260604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61518" y="266090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76B900"/>
                </a:solidFill>
              </a:rPr>
              <a:t>VLM fallback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61518" y="300837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NVCF vision model if no Physna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597510" y="379476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61518" y="384962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5C518"/>
                </a:solidFill>
              </a:rPr>
              <a:t>Result schema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61518" y="419709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label, confidence, cad_id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249962" y="960120"/>
            <a:ext cx="1606731" cy="384048"/>
          </a:xfrm>
          <a:prstGeom prst="rect">
            <a:avLst/>
          </a:prstGeom>
          <a:solidFill>
            <a:srgbClr val="16213E"/>
          </a:solidFill>
          <a:ln w="3175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04826" y="987552"/>
            <a:ext cx="1515291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E54B4B"/>
                </a:solidFill>
              </a:rPr>
              <a:t>Reconstruct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95682" y="141732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59690" y="147218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08AC8"/>
                </a:solidFill>
              </a:rPr>
              <a:t>open3d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59690" y="181965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Poisson/BPA from cluster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95682" y="260604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359690" y="266090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E54B4B"/>
                </a:solidFill>
              </a:rPr>
              <a:t>Physna CAD swap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59690" y="300837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Clean mesh on high confidence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5682" y="379476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359690" y="384962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76B900"/>
                </a:solidFill>
              </a:rPr>
              <a:t>OpenUSD SDK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359690" y="419709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Assemble as UsdGeomMesh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948133" y="960120"/>
            <a:ext cx="1606731" cy="384048"/>
          </a:xfrm>
          <a:prstGeom prst="rect">
            <a:avLst/>
          </a:prstGeom>
          <a:solidFill>
            <a:srgbClr val="16213E"/>
          </a:solidFill>
          <a:ln w="317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002997" y="987552"/>
            <a:ext cx="1515291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76B900"/>
                </a:solidFill>
              </a:rPr>
              <a:t>Materials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993853" y="141732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057861" y="147218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76B900"/>
                </a:solidFill>
              </a:rPr>
              <a:t>AI Material Agent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057861" y="181965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NVCF — label → MDL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993853" y="260604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057861" y="266090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76B900"/>
                </a:solidFill>
              </a:rPr>
              <a:t>MDL library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57861" y="300837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NVIDIA material defs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93853" y="379476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057861" y="384962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5C518"/>
                </a:solidFill>
              </a:rPr>
              <a:t>Fallback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057861" y="419709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Default grey if API fails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646305" y="960120"/>
            <a:ext cx="1606731" cy="384048"/>
          </a:xfrm>
          <a:prstGeom prst="rect">
            <a:avLst/>
          </a:prstGeom>
          <a:solidFill>
            <a:srgbClr val="16213E"/>
          </a:solidFill>
          <a:ln w="317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701169" y="987552"/>
            <a:ext cx="1515291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76B900"/>
                </a:solidFill>
              </a:rPr>
              <a:t>Render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692025" y="141732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756033" y="147218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76B900"/>
                </a:solidFill>
              </a:rPr>
              <a:t>ovRTX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756033" y="181965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NVCF endpoint — photoreal render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692025" y="260604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756033" y="266090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76B900"/>
                </a:solidFill>
              </a:rPr>
              <a:t>Validation use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756033" y="300837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Visual QA after assembly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692025" y="379476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756033" y="384962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76B900"/>
                </a:solidFill>
              </a:rPr>
              <a:t>Output use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756033" y="419709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Rendered twin as deliverable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344476" y="960120"/>
            <a:ext cx="1606731" cy="384048"/>
          </a:xfrm>
          <a:prstGeom prst="rect">
            <a:avLst/>
          </a:prstGeom>
          <a:solidFill>
            <a:srgbClr val="16213E"/>
          </a:solidFill>
          <a:ln w="317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399340" y="987552"/>
            <a:ext cx="1515291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76B900"/>
                </a:solidFill>
              </a:rPr>
              <a:t>Assemble &amp; Val.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390196" y="141732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454204" y="147218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76B900"/>
                </a:solidFill>
              </a:rPr>
              <a:t>OpenUSD SDK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454204" y="181965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Stage assembly + hierarchy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0390196" y="2606040"/>
            <a:ext cx="1515291" cy="1097280"/>
          </a:xfrm>
          <a:prstGeom prst="rect">
            <a:avLst/>
          </a:prstGeom>
          <a:solidFill>
            <a:srgbClr val="16213E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454204" y="2660904"/>
            <a:ext cx="14055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76B900"/>
                </a:solidFill>
              </a:rPr>
              <a:t>SimReady validator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454204" y="3008376"/>
            <a:ext cx="140556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AAAAAA"/>
                </a:solidFill>
              </a:rPr>
              <a:t>Standalone lib — checks spec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298448" y="6446520"/>
            <a:ext cx="1783080" cy="292608"/>
          </a:xfrm>
          <a:prstGeom prst="rect">
            <a:avLst/>
          </a:prstGeom>
          <a:solidFill>
            <a:srgbClr val="16213E"/>
          </a:solidFill>
          <a:ln w="2540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344168" y="6464808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76B900"/>
                </a:solidFill>
              </a:rPr>
              <a:t>NVIDIA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218688" y="6446520"/>
            <a:ext cx="1783080" cy="292608"/>
          </a:xfrm>
          <a:prstGeom prst="rect">
            <a:avLst/>
          </a:prstGeom>
          <a:solidFill>
            <a:srgbClr val="16213E"/>
          </a:solidFill>
          <a:ln w="2540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264408" y="6464808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E54B4B"/>
                </a:solidFill>
              </a:rPr>
              <a:t>Physna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0024" y="6446520"/>
            <a:ext cx="1783080" cy="292608"/>
          </a:xfrm>
          <a:prstGeom prst="rect">
            <a:avLst/>
          </a:prstGeom>
          <a:solidFill>
            <a:srgbClr val="16213E"/>
          </a:solidFill>
          <a:ln w="2540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095744" y="6464808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008AC8"/>
                </a:solidFill>
              </a:rPr>
              <a:t>OSS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970264" y="6446520"/>
            <a:ext cx="1783080" cy="292608"/>
          </a:xfrm>
          <a:prstGeom prst="rect">
            <a:avLst/>
          </a:prstGeom>
          <a:solidFill>
            <a:srgbClr val="16213E"/>
          </a:solidFill>
          <a:ln w="2540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015984" y="6464808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5C518"/>
                </a:solidFill>
              </a:rPr>
              <a:t>Glue Code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76B90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Agent Decision Logic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</a:rPr>
              <a:t>The agent isn't a runner — it reasons. Low confidence triggers retry or swap. Errors escalate to human.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960120"/>
            <a:ext cx="3566160" cy="4864608"/>
          </a:xfrm>
          <a:prstGeom prst="rect">
            <a:avLst/>
          </a:prstGeom>
          <a:solidFill>
            <a:srgbClr val="16213E"/>
          </a:solidFill>
          <a:ln w="317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960120"/>
            <a:ext cx="3566160" cy="475488"/>
          </a:xfrm>
          <a:prstGeom prst="rect">
            <a:avLst/>
          </a:prstGeom>
          <a:solidFill>
            <a:srgbClr val="76B90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978408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1A2E"/>
                </a:solidFill>
              </a:rPr>
              <a:t>What the Agent
Knows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50876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Available skills + schemas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984248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Input file type + metadata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459736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Per-skill confidence thresholds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935224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Retry budget per skill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3410712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Human escalation rules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388620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Run history + provenance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78807" y="960120"/>
            <a:ext cx="3566160" cy="4864608"/>
          </a:xfrm>
          <a:prstGeom prst="rect">
            <a:avLst/>
          </a:prstGeom>
          <a:solidFill>
            <a:srgbClr val="16213E"/>
          </a:solidFill>
          <a:ln w="3175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78807" y="960120"/>
            <a:ext cx="3566160" cy="475488"/>
          </a:xfrm>
          <a:prstGeom prst="rect">
            <a:avLst/>
          </a:prstGeom>
          <a:solidFill>
            <a:srgbClr val="E54B4B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70247" y="978408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1A2E"/>
                </a:solidFill>
              </a:rPr>
              <a:t>What the Agent
Decides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399" y="150876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Which skill to call next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399" y="1984248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Which algorithm variant
(DBSCAN vs Euclidean)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399" y="2642615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Accept result or retry
with different params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399" y="3300983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CAD substitution or
scan-derived mesh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43399" y="3959351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Render now or skip
(optional ovRTX call)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399" y="4617719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Escalate to human or
accept with warning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83296" y="960120"/>
            <a:ext cx="3566160" cy="4864608"/>
          </a:xfrm>
          <a:prstGeom prst="rect">
            <a:avLst/>
          </a:prstGeom>
          <a:solidFill>
            <a:srgbClr val="16213E"/>
          </a:solidFill>
          <a:ln w="317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83296" y="960120"/>
            <a:ext cx="3566160" cy="475488"/>
          </a:xfrm>
          <a:prstGeom prst="rect">
            <a:avLst/>
          </a:prstGeom>
          <a:solidFill>
            <a:srgbClr val="76B90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74736" y="978408"/>
            <a:ext cx="340156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1A2E"/>
                </a:solidFill>
              </a:rPr>
              <a:t>What It
Produces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150876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SimReady USD stage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47888" y="1984248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ovRTX render (optional)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2459736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Per-object run report: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47888" y="2935224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  · skill + algorithm used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47888" y="3410712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  · confidence score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7888" y="388620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  · CAD match or scan mesh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47888" y="4361688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  · material assigned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7888" y="4837175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Validation report (pass/fail)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76B90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Potential Ownership &amp; Delivery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</a:rPr>
              <a:t>NVIDIA ships agent + skill framework. Partners provide domain libraries. Glue code is minimal and visible.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05840"/>
            <a:ext cx="11795760" cy="960120"/>
          </a:xfrm>
          <a:prstGeom prst="rect">
            <a:avLst/>
          </a:prstGeom>
          <a:solidFill>
            <a:srgbClr val="16213E"/>
          </a:solidFill>
          <a:ln w="2540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05840"/>
            <a:ext cx="1188720" cy="960120"/>
          </a:xfrm>
          <a:prstGeom prst="rect">
            <a:avLst/>
          </a:prstGeom>
          <a:solidFill>
            <a:srgbClr val="76B90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1280160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A1A2E"/>
                </a:solidFill>
              </a:rPr>
              <a:t>NVIDIA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81328" y="1060704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</a:rPr>
              <a:t>Agent framework · Skill interfaces · NVCF runtime
OpenUSD SDK · AI Material Agent · MDL library
ovRTX renderer · SimReady validator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03720" y="1060704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AAAAAA"/>
                </a:solidFill>
              </a:rPr>
              <a:t>Builds and maintains the agent, skill contracts, and all NVIDIA-owned tool implementations.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2084832"/>
            <a:ext cx="11795760" cy="960120"/>
          </a:xfrm>
          <a:prstGeom prst="rect">
            <a:avLst/>
          </a:prstGeom>
          <a:solidFill>
            <a:srgbClr val="16213E"/>
          </a:solidFill>
          <a:ln w="2540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2880" y="2084832"/>
            <a:ext cx="1188720" cy="960120"/>
          </a:xfrm>
          <a:prstGeom prst="rect">
            <a:avLst/>
          </a:prstGeom>
          <a:solidFill>
            <a:srgbClr val="E54B4B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2880" y="2359152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A1A2E"/>
                </a:solidFill>
              </a:rPr>
              <a:t>Physna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139696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</a:rPr>
              <a:t>Geometric CAD search library / API
CAD substitution (clean mesh swap on high confidence match)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139696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AAAAAA"/>
                </a:solidFill>
              </a:rPr>
              <a:t>Primary partner for object recognition. Skills wrap their API. Swap in or out without touching agent.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3163824"/>
            <a:ext cx="11795760" cy="960120"/>
          </a:xfrm>
          <a:prstGeom prst="rect">
            <a:avLst/>
          </a:prstGeom>
          <a:solidFill>
            <a:srgbClr val="16213E"/>
          </a:solidFill>
          <a:ln w="25400">
            <a:solidFill>
              <a:srgbClr val="E58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2880" y="3163824"/>
            <a:ext cx="1188720" cy="960120"/>
          </a:xfrm>
          <a:prstGeom prst="rect">
            <a:avLst/>
          </a:prstGeom>
          <a:solidFill>
            <a:srgbClr val="E58C1A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2880" y="3438144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A1A2E"/>
                </a:solidFill>
              </a:rPr>
              <a:t>Siemens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81328" y="3218688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</a:rPr>
              <a:t>DTC format adapter · DTC semantic property schema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218688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AAAAAA"/>
                </a:solidFill>
              </a:rPr>
              <a:t>Adopts NVIDIA reference architecture. Adds DTC-specific skill on top. EA launch partner (TBD).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2880" y="4242816"/>
            <a:ext cx="11795760" cy="960120"/>
          </a:xfrm>
          <a:prstGeom prst="rect">
            <a:avLst/>
          </a:prstGeom>
          <a:solidFill>
            <a:srgbClr val="16213E"/>
          </a:solidFill>
          <a:ln w="2540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82880" y="4242816"/>
            <a:ext cx="1188720" cy="960120"/>
          </a:xfrm>
          <a:prstGeom prst="rect">
            <a:avLst/>
          </a:prstGeom>
          <a:solidFill>
            <a:srgbClr val="008AC8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2880" y="4517136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A1A2E"/>
                </a:solidFill>
              </a:rPr>
              <a:t>OSS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81328" y="4297679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</a:rPr>
              <a:t>open3d — ingest, filter, segment, reconstruct
pye57 — E57 native read · scikit-learn — DBSCAN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4297679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AAAAAA"/>
                </a:solidFill>
              </a:rPr>
              <a:t>Commodity processing. No lock-in. Replace any piece if a better library ships.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82880" y="5321807"/>
            <a:ext cx="11795760" cy="960120"/>
          </a:xfrm>
          <a:prstGeom prst="rect">
            <a:avLst/>
          </a:prstGeom>
          <a:solidFill>
            <a:srgbClr val="16213E"/>
          </a:solidFill>
          <a:ln w="2540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82880" y="5321807"/>
            <a:ext cx="1188720" cy="960120"/>
          </a:xfrm>
          <a:prstGeom prst="rect">
            <a:avLst/>
          </a:prstGeom>
          <a:solidFill>
            <a:srgbClr val="F5C518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2880" y="5596127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A1A2E"/>
                </a:solidFill>
              </a:rPr>
              <a:t>Glue Code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81328" y="5376671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</a:rPr>
              <a:t>Skill config schemas (JSON/YAML) · Skill registry + runner
Run report format · Reference agent implementation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5376671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AAAAAA"/>
                </a:solidFill>
              </a:rPr>
              <a:t>Minimal glue maintained by NVIDIA. Visible, readable, meant to be forked. Not a black box.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76B900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11521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Open Questions — Resolve Before Engineering Spec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02920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</a:rPr>
              <a:t>Four decisions that gate detailed requirements.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05840"/>
            <a:ext cx="11795760" cy="1143000"/>
          </a:xfrm>
          <a:prstGeom prst="rect">
            <a:avLst/>
          </a:prstGeom>
          <a:solidFill>
            <a:srgbClr val="16213E"/>
          </a:solidFill>
          <a:ln w="2540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1005840"/>
            <a:ext cx="530352" cy="1143000"/>
          </a:xfrm>
          <a:prstGeom prst="rect">
            <a:avLst/>
          </a:prstGeom>
          <a:solidFill>
            <a:srgbClr val="E54B4B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1325880"/>
            <a:ext cx="5303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A1A2E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069848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54B4B"/>
                </a:solidFill>
              </a:rPr>
              <a:t>Physna integration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481328"/>
            <a:ext cx="108813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AAAAAA"/>
                </a:solidFill>
              </a:rPr>
              <a:t>Python library or REST API?  Affects NVCF wrapping pattern and latency. Need answer before skill interface is finalized.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2304288"/>
            <a:ext cx="11795760" cy="1143000"/>
          </a:xfrm>
          <a:prstGeom prst="rect">
            <a:avLst/>
          </a:prstGeom>
          <a:solidFill>
            <a:srgbClr val="16213E"/>
          </a:solidFill>
          <a:ln w="2540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2880" y="2304288"/>
            <a:ext cx="530352" cy="1143000"/>
          </a:xfrm>
          <a:prstGeom prst="rect">
            <a:avLst/>
          </a:prstGeom>
          <a:solidFill>
            <a:srgbClr val="008AC8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2880" y="2624328"/>
            <a:ext cx="5303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A1A2E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368296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8AC8"/>
                </a:solidFill>
              </a:rPr>
              <a:t>Segmentation fidelity at EA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779776"/>
            <a:ext cx="108813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AAAAAA"/>
                </a:solidFill>
              </a:rPr>
              <a:t>Is open3d Euclidean cluster sufficient for factory floor objects at EA, or do we need to scope a DL segmentation model post-EA?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3602736"/>
            <a:ext cx="11795760" cy="1143000"/>
          </a:xfrm>
          <a:prstGeom prst="rect">
            <a:avLst/>
          </a:prstGeom>
          <a:solidFill>
            <a:srgbClr val="16213E"/>
          </a:solidFill>
          <a:ln w="25400">
            <a:solidFill>
              <a:srgbClr val="E58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2880" y="3602736"/>
            <a:ext cx="530352" cy="1143000"/>
          </a:xfrm>
          <a:prstGeom prst="rect">
            <a:avLst/>
          </a:prstGeom>
          <a:solidFill>
            <a:srgbClr val="E58C1A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2880" y="3922776"/>
            <a:ext cx="5303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A1A2E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666744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58C1A"/>
                </a:solidFill>
              </a:rPr>
              <a:t>Siemens adapter EA 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078224"/>
            <a:ext cx="108813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AAAAAA"/>
                </a:solidFill>
              </a:rPr>
              <a:t>Is the DTC export adapter in-scope for EA, or is raw USD sufficient?  Determines whether Siemens is a launch partner or follow-on.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2880" y="4901183"/>
            <a:ext cx="11795760" cy="1143000"/>
          </a:xfrm>
          <a:prstGeom prst="rect">
            <a:avLst/>
          </a:prstGeom>
          <a:solidFill>
            <a:srgbClr val="16213E"/>
          </a:solidFill>
          <a:ln w="2540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82880" y="4901183"/>
            <a:ext cx="530352" cy="1143000"/>
          </a:xfrm>
          <a:prstGeom prst="rect">
            <a:avLst/>
          </a:prstGeom>
          <a:solidFill>
            <a:srgbClr val="F5C518"/>
          </a:solidFill>
          <a:ln w="190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2880" y="5221223"/>
            <a:ext cx="5303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A1A2E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965192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C518"/>
                </a:solidFill>
              </a:rPr>
              <a:t>Hackathon repo reuse 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76671"/>
            <a:ext cx="108813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AAAAAA"/>
                </a:solidFill>
              </a:rPr>
              <a:t>Which components from existing repos translate directly to skills?  Share repos to map existing work before building from scratch.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